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vsdx" ContentType="application/vnd.ms-visio.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9144000" cy="16256000"/>
  <p:embeddedFontLst>
    <p:embeddedFont>
      <p:font typeface="微软雅黑" panose="020B0503020204020204" pitchFamily="34" charset="-122"/>
      <p:regular r:id="rId19"/>
      <p:bold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D3436"/>
                    </a:solidFill>
                    <a:latin typeface="微软雅黑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XGBoost</c:v>
                </c:pt>
                <c:pt idx="1">
                  <c:v>LightGBM</c:v>
                </c:pt>
                <c:pt idx="2">
                  <c:v>CatBoost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0.89559999999999995</c:v>
                </c:pt>
                <c:pt idx="1">
                  <c:v>0.88719999999999999</c:v>
                </c:pt>
                <c:pt idx="2">
                  <c:v>0.90129999999999999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C5-40AA-9D9A-35222F9DA2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D3436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2"/>
          <c:min val="0.85"/>
        </c:scaling>
        <c:delete val="0"/>
        <c:axPos val="l"/>
        <c:majorGridlines>
          <c:spPr>
            <a:ln w="12700" cap="flat">
              <a:solidFill>
                <a:srgbClr val="E8F0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MAPE(%)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D3436"/>
                    </a:solidFill>
                    <a:latin typeface="微软雅黑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叶菜类</c:v>
                </c:pt>
                <c:pt idx="1">
                  <c:v>水果类</c:v>
                </c:pt>
                <c:pt idx="2">
                  <c:v>茶叶类</c:v>
                </c:pt>
                <c:pt idx="3">
                  <c:v>粮油类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4.68</c:v>
                </c:pt>
                <c:pt idx="1">
                  <c:v>4.32</c:v>
                </c:pt>
                <c:pt idx="2">
                  <c:v>3.95</c:v>
                </c:pt>
                <c:pt idx="3">
                  <c:v>1.62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73-42B5-84A4-F93D2C568D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D3436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12700" cap="flat">
              <a:solidFill>
                <a:srgbClr val="E8F0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039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微软雅黑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微软雅黑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微软雅黑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微软雅黑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微软雅黑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微软雅黑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微软雅黑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微软雅黑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微软雅黑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53600" y="0"/>
            <a:ext cx="6502400" cy="914400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3" name="Image 0" descr="https://kimi-img.moonshot.cn/pub/slides/okc/orinb35jja6ns/mnt/agents/output/agri_ppt/images/1_230_067_Agriculture_Technology_Backgrounds.png"/>
          <p:cNvPicPr>
            <a:picLocks noChangeAspect="1"/>
          </p:cNvPicPr>
          <p:nvPr/>
        </p:nvPicPr>
        <p:blipFill>
          <a:blip r:embed="rId3">
            <a:alphaModFix amt="25000"/>
          </a:blip>
          <a:srcRect l="31333" r="31333"/>
          <a:stretch/>
        </p:blipFill>
        <p:spPr>
          <a:xfrm>
            <a:off x="9753600" y="0"/>
            <a:ext cx="6502400" cy="914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07600" y="2540000"/>
            <a:ext cx="5994400" cy="406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>
                    <a:alpha val="8235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AGRITRADE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762000" y="50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南京邮电大学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2000" y="2286000"/>
            <a:ext cx="838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40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基于Spring Boot的农产品产地直销交易平台</a:t>
            </a:r>
            <a:endParaRPr 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2000" y="4064000"/>
            <a:ext cx="838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商品智能推荐与价格预测系统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2000" y="4953000"/>
            <a:ext cx="1524000" cy="381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5334000"/>
            <a:ext cx="6350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答辩人：应锋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指导教师：师晓晔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专　　业：网络工程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学　　号：B22080118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2000" y="812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2026年5月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1016000"/>
            <a:ext cx="431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kern="0" spc="4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CONTENTS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1905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A7C4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目录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8000" y="2667000"/>
            <a:ext cx="1016000" cy="381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6" name="Image 0" descr="https://kimi-img.moonshot.cn/pub/slides/okc/orinb35jja6ns/mnt/agents/output/agri_ppt/images/5_Farmers_Market_Images_Free_Photos.png"/>
          <p:cNvPicPr>
            <a:picLocks noChangeAspect="1"/>
          </p:cNvPicPr>
          <p:nvPr/>
        </p:nvPicPr>
        <p:blipFill>
          <a:blip r:embed="rId3">
            <a:alphaModFix amt="60000"/>
          </a:blip>
          <a:srcRect l="19500" r="19500"/>
          <a:stretch/>
        </p:blipFill>
        <p:spPr>
          <a:xfrm>
            <a:off x="508000" y="3556000"/>
            <a:ext cx="4064000" cy="4572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5588000" y="12700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01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研究背景与目标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5588000" y="25400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02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系统架构设计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588000" y="38100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03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后端核心实现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588000" y="50800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04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前端核心实现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22000" y="12700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05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算法验证与效果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922000" y="2540000"/>
            <a:ext cx="457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06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总结与展望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588000" y="2286000"/>
            <a:ext cx="4572000" cy="12700"/>
          </a:xfrm>
          <a:prstGeom prst="rect">
            <a:avLst/>
          </a:prstGeom>
          <a:solidFill>
            <a:srgbClr val="A7C4BC"/>
          </a:solidFill>
          <a:ln/>
        </p:spPr>
      </p:sp>
      <p:sp>
        <p:nvSpPr>
          <p:cNvPr id="14" name="Shape 11"/>
          <p:cNvSpPr/>
          <p:nvPr/>
        </p:nvSpPr>
        <p:spPr>
          <a:xfrm>
            <a:off x="5588000" y="3556000"/>
            <a:ext cx="4572000" cy="12700"/>
          </a:xfrm>
          <a:prstGeom prst="rect">
            <a:avLst/>
          </a:prstGeom>
          <a:solidFill>
            <a:srgbClr val="A7C4BC"/>
          </a:solidFill>
          <a:ln/>
        </p:spPr>
      </p:sp>
      <p:sp>
        <p:nvSpPr>
          <p:cNvPr id="15" name="Shape 12"/>
          <p:cNvSpPr/>
          <p:nvPr/>
        </p:nvSpPr>
        <p:spPr>
          <a:xfrm>
            <a:off x="5588000" y="4826000"/>
            <a:ext cx="4572000" cy="12700"/>
          </a:xfrm>
          <a:prstGeom prst="rect">
            <a:avLst/>
          </a:prstGeom>
          <a:solidFill>
            <a:srgbClr val="A7C4BC"/>
          </a:solidFill>
          <a:ln/>
        </p:spPr>
      </p:sp>
      <p:sp>
        <p:nvSpPr>
          <p:cNvPr id="16" name="Shape 13"/>
          <p:cNvSpPr/>
          <p:nvPr/>
        </p:nvSpPr>
        <p:spPr>
          <a:xfrm>
            <a:off x="5588000" y="6096000"/>
            <a:ext cx="4572000" cy="12700"/>
          </a:xfrm>
          <a:prstGeom prst="rect">
            <a:avLst/>
          </a:prstGeom>
          <a:solidFill>
            <a:srgbClr val="A7C4BC"/>
          </a:solidFill>
          <a:ln/>
        </p:spPr>
      </p:sp>
      <p:sp>
        <p:nvSpPr>
          <p:cNvPr id="17" name="Shape 14"/>
          <p:cNvSpPr/>
          <p:nvPr/>
        </p:nvSpPr>
        <p:spPr>
          <a:xfrm>
            <a:off x="10922000" y="2286000"/>
            <a:ext cx="4572000" cy="12700"/>
          </a:xfrm>
          <a:prstGeom prst="rect">
            <a:avLst/>
          </a:prstGeom>
          <a:solidFill>
            <a:srgbClr val="A7C4BC"/>
          </a:solidFill>
          <a:ln/>
        </p:spPr>
      </p:sp>
      <p:sp>
        <p:nvSpPr>
          <p:cNvPr id="18" name="Shape 15"/>
          <p:cNvSpPr/>
          <p:nvPr/>
        </p:nvSpPr>
        <p:spPr>
          <a:xfrm>
            <a:off x="10922000" y="3556000"/>
            <a:ext cx="4572000" cy="12700"/>
          </a:xfrm>
          <a:prstGeom prst="rect">
            <a:avLst/>
          </a:prstGeom>
          <a:solidFill>
            <a:srgbClr val="A7C4BC"/>
          </a:solidFill>
          <a:ln/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762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研究背景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2667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系统架构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53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后端实现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239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前端实现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算法验证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1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总结展望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736600"/>
            <a:ext cx="50800" cy="431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研究背景与目标</a:t>
            </a:r>
            <a:endParaRPr 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2000" y="1524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产业背景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农产品流通存在供需信息不对称、产销对接难等问题。消费者难以获取优质农产品，农户常遭遇"卖难""价低"困境。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2000" y="4318000"/>
            <a:ext cx="685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技术背景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Spring Boot + Vue 3 前后端分离架构成熟，XGBoost梯度提升树在推荐与预测任务中表现优异。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" y="6604000"/>
            <a:ext cx="685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研究目标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构建产地直销平台，集成智能推荐与价格预测，降低消费者筛选成本，辅助农户科学定价。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28000" y="1460500"/>
            <a:ext cx="7366000" cy="6858000"/>
          </a:xfrm>
          <a:prstGeom prst="roundRect">
            <a:avLst>
              <a:gd name="adj" fmla="val 6000"/>
            </a:avLst>
          </a:prstGeom>
          <a:solidFill>
            <a:srgbClr val="A7C4BC">
              <a:alpha val="18824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Text 14"/>
          <p:cNvSpPr/>
          <p:nvPr/>
        </p:nvSpPr>
        <p:spPr>
          <a:xfrm>
            <a:off x="8636000" y="1905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平台核心功能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636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0460" y="71735"/>
                </a:moveTo>
                <a:cubicBezTo>
                  <a:pt x="37306" y="48022"/>
                  <a:pt x="59035" y="31750"/>
                  <a:pt x="83741" y="31750"/>
                </a:cubicBezTo>
                <a:lnTo>
                  <a:pt x="425053" y="31750"/>
                </a:lnTo>
                <a:cubicBezTo>
                  <a:pt x="449759" y="31750"/>
                  <a:pt x="471488" y="48022"/>
                  <a:pt x="478433" y="71735"/>
                </a:cubicBezTo>
                <a:lnTo>
                  <a:pt x="501650" y="151309"/>
                </a:lnTo>
                <a:cubicBezTo>
                  <a:pt x="514350" y="194667"/>
                  <a:pt x="481707" y="238125"/>
                  <a:pt x="436563" y="238125"/>
                </a:cubicBezTo>
                <a:cubicBezTo>
                  <a:pt x="410468" y="238125"/>
                  <a:pt x="387548" y="223341"/>
                  <a:pt x="376238" y="201315"/>
                </a:cubicBezTo>
                <a:cubicBezTo>
                  <a:pt x="364728" y="223044"/>
                  <a:pt x="341908" y="238125"/>
                  <a:pt x="315317" y="238125"/>
                </a:cubicBezTo>
                <a:cubicBezTo>
                  <a:pt x="288925" y="238125"/>
                  <a:pt x="266005" y="223242"/>
                  <a:pt x="254496" y="201414"/>
                </a:cubicBezTo>
                <a:cubicBezTo>
                  <a:pt x="242987" y="223242"/>
                  <a:pt x="220067" y="238125"/>
                  <a:pt x="193675" y="238125"/>
                </a:cubicBezTo>
                <a:cubicBezTo>
                  <a:pt x="167084" y="238125"/>
                  <a:pt x="144264" y="223143"/>
                  <a:pt x="132755" y="201315"/>
                </a:cubicBezTo>
                <a:cubicBezTo>
                  <a:pt x="121444" y="223242"/>
                  <a:pt x="98524" y="238125"/>
                  <a:pt x="72430" y="238125"/>
                </a:cubicBezTo>
                <a:cubicBezTo>
                  <a:pt x="27186" y="238125"/>
                  <a:pt x="-5358" y="194766"/>
                  <a:pt x="7342" y="151309"/>
                </a:cubicBezTo>
                <a:lnTo>
                  <a:pt x="30460" y="71735"/>
                </a:lnTo>
                <a:close/>
                <a:moveTo>
                  <a:pt x="95647" y="349250"/>
                </a:moveTo>
                <a:lnTo>
                  <a:pt x="413147" y="349250"/>
                </a:lnTo>
                <a:lnTo>
                  <a:pt x="413147" y="283369"/>
                </a:lnTo>
                <a:cubicBezTo>
                  <a:pt x="420688" y="284956"/>
                  <a:pt x="428526" y="285750"/>
                  <a:pt x="436463" y="285750"/>
                </a:cubicBezTo>
                <a:cubicBezTo>
                  <a:pt x="450652" y="285750"/>
                  <a:pt x="464245" y="283170"/>
                  <a:pt x="476647" y="278606"/>
                </a:cubicBezTo>
                <a:lnTo>
                  <a:pt x="476647" y="428625"/>
                </a:lnTo>
                <a:cubicBezTo>
                  <a:pt x="476647" y="454918"/>
                  <a:pt x="455315" y="476250"/>
                  <a:pt x="429022" y="476250"/>
                </a:cubicBezTo>
                <a:lnTo>
                  <a:pt x="79772" y="476250"/>
                </a:lnTo>
                <a:cubicBezTo>
                  <a:pt x="53479" y="476250"/>
                  <a:pt x="32147" y="454918"/>
                  <a:pt x="32147" y="428625"/>
                </a:cubicBezTo>
                <a:lnTo>
                  <a:pt x="32147" y="278606"/>
                </a:lnTo>
                <a:cubicBezTo>
                  <a:pt x="44549" y="283170"/>
                  <a:pt x="58043" y="285750"/>
                  <a:pt x="72330" y="285750"/>
                </a:cubicBezTo>
                <a:cubicBezTo>
                  <a:pt x="80367" y="285750"/>
                  <a:pt x="88106" y="284956"/>
                  <a:pt x="95647" y="283369"/>
                </a:cubicBezTo>
                <a:lnTo>
                  <a:pt x="95647" y="349250"/>
                </a:ln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9398000" y="2616200"/>
            <a:ext cx="558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产地直销交易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农户直发消费者，缩短流通环节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604250" y="4318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61342" y="-26789"/>
                </a:moveTo>
                <a:lnTo>
                  <a:pt x="276027" y="9723"/>
                </a:lnTo>
                <a:lnTo>
                  <a:pt x="312539" y="24408"/>
                </a:lnTo>
                <a:cubicBezTo>
                  <a:pt x="315516" y="25598"/>
                  <a:pt x="317500" y="28575"/>
                  <a:pt x="317500" y="31750"/>
                </a:cubicBezTo>
                <a:cubicBezTo>
                  <a:pt x="317500" y="34925"/>
                  <a:pt x="315516" y="37902"/>
                  <a:pt x="312539" y="39092"/>
                </a:cubicBezTo>
                <a:lnTo>
                  <a:pt x="276027" y="53777"/>
                </a:lnTo>
                <a:lnTo>
                  <a:pt x="261342" y="90289"/>
                </a:lnTo>
                <a:cubicBezTo>
                  <a:pt x="260152" y="93266"/>
                  <a:pt x="257175" y="95250"/>
                  <a:pt x="254000" y="95250"/>
                </a:cubicBezTo>
                <a:cubicBezTo>
                  <a:pt x="250825" y="95250"/>
                  <a:pt x="247848" y="93266"/>
                  <a:pt x="246658" y="90289"/>
                </a:cubicBezTo>
                <a:lnTo>
                  <a:pt x="231973" y="53777"/>
                </a:lnTo>
                <a:lnTo>
                  <a:pt x="195461" y="39092"/>
                </a:lnTo>
                <a:cubicBezTo>
                  <a:pt x="192484" y="37902"/>
                  <a:pt x="190500" y="34925"/>
                  <a:pt x="190500" y="31750"/>
                </a:cubicBezTo>
                <a:cubicBezTo>
                  <a:pt x="190500" y="28575"/>
                  <a:pt x="192484" y="25598"/>
                  <a:pt x="195461" y="24408"/>
                </a:cubicBezTo>
                <a:lnTo>
                  <a:pt x="231973" y="9723"/>
                </a:lnTo>
                <a:lnTo>
                  <a:pt x="246658" y="-26789"/>
                </a:lnTo>
                <a:cubicBezTo>
                  <a:pt x="247848" y="-29766"/>
                  <a:pt x="250825" y="-31750"/>
                  <a:pt x="254000" y="-31750"/>
                </a:cubicBezTo>
                <a:cubicBezTo>
                  <a:pt x="257175" y="-31750"/>
                  <a:pt x="260152" y="-29766"/>
                  <a:pt x="261342" y="-26789"/>
                </a:cubicBezTo>
                <a:close/>
                <a:moveTo>
                  <a:pt x="109835" y="41374"/>
                </a:moveTo>
                <a:lnTo>
                  <a:pt x="131167" y="91083"/>
                </a:lnTo>
                <a:lnTo>
                  <a:pt x="180876" y="112415"/>
                </a:lnTo>
                <a:cubicBezTo>
                  <a:pt x="186730" y="114895"/>
                  <a:pt x="190500" y="120650"/>
                  <a:pt x="190500" y="127000"/>
                </a:cubicBezTo>
                <a:cubicBezTo>
                  <a:pt x="190500" y="133350"/>
                  <a:pt x="186730" y="139105"/>
                  <a:pt x="180876" y="141585"/>
                </a:cubicBezTo>
                <a:lnTo>
                  <a:pt x="131167" y="162917"/>
                </a:lnTo>
                <a:lnTo>
                  <a:pt x="109835" y="212626"/>
                </a:lnTo>
                <a:cubicBezTo>
                  <a:pt x="107355" y="218480"/>
                  <a:pt x="101600" y="222250"/>
                  <a:pt x="95250" y="222250"/>
                </a:cubicBezTo>
                <a:cubicBezTo>
                  <a:pt x="88900" y="222250"/>
                  <a:pt x="83145" y="218480"/>
                  <a:pt x="80665" y="212626"/>
                </a:cubicBezTo>
                <a:lnTo>
                  <a:pt x="59333" y="162917"/>
                </a:lnTo>
                <a:lnTo>
                  <a:pt x="9624" y="141585"/>
                </a:lnTo>
                <a:cubicBezTo>
                  <a:pt x="3770" y="139105"/>
                  <a:pt x="0" y="133350"/>
                  <a:pt x="0" y="127000"/>
                </a:cubicBezTo>
                <a:cubicBezTo>
                  <a:pt x="0" y="120650"/>
                  <a:pt x="3770" y="114895"/>
                  <a:pt x="9624" y="112415"/>
                </a:cubicBezTo>
                <a:lnTo>
                  <a:pt x="59333" y="91083"/>
                </a:lnTo>
                <a:lnTo>
                  <a:pt x="80665" y="41374"/>
                </a:lnTo>
                <a:cubicBezTo>
                  <a:pt x="83145" y="35520"/>
                  <a:pt x="88900" y="31750"/>
                  <a:pt x="95250" y="31750"/>
                </a:cubicBezTo>
                <a:cubicBezTo>
                  <a:pt x="101600" y="31750"/>
                  <a:pt x="107355" y="35520"/>
                  <a:pt x="109835" y="41374"/>
                </a:cubicBezTo>
                <a:close/>
                <a:moveTo>
                  <a:pt x="460375" y="301625"/>
                </a:moveTo>
                <a:cubicBezTo>
                  <a:pt x="466725" y="301625"/>
                  <a:pt x="472480" y="305395"/>
                  <a:pt x="474960" y="311249"/>
                </a:cubicBezTo>
                <a:lnTo>
                  <a:pt x="496292" y="360958"/>
                </a:lnTo>
                <a:lnTo>
                  <a:pt x="546001" y="382290"/>
                </a:lnTo>
                <a:cubicBezTo>
                  <a:pt x="551855" y="384770"/>
                  <a:pt x="555625" y="390525"/>
                  <a:pt x="555625" y="396875"/>
                </a:cubicBezTo>
                <a:cubicBezTo>
                  <a:pt x="555625" y="403225"/>
                  <a:pt x="551855" y="408980"/>
                  <a:pt x="546001" y="411460"/>
                </a:cubicBezTo>
                <a:lnTo>
                  <a:pt x="496292" y="432792"/>
                </a:lnTo>
                <a:lnTo>
                  <a:pt x="474960" y="482501"/>
                </a:lnTo>
                <a:cubicBezTo>
                  <a:pt x="472480" y="488355"/>
                  <a:pt x="466725" y="492125"/>
                  <a:pt x="460375" y="492125"/>
                </a:cubicBezTo>
                <a:cubicBezTo>
                  <a:pt x="454025" y="492125"/>
                  <a:pt x="448270" y="488355"/>
                  <a:pt x="445790" y="482501"/>
                </a:cubicBezTo>
                <a:lnTo>
                  <a:pt x="424458" y="432792"/>
                </a:lnTo>
                <a:lnTo>
                  <a:pt x="374749" y="411460"/>
                </a:lnTo>
                <a:cubicBezTo>
                  <a:pt x="368895" y="408980"/>
                  <a:pt x="365125" y="403225"/>
                  <a:pt x="365125" y="396875"/>
                </a:cubicBezTo>
                <a:cubicBezTo>
                  <a:pt x="365125" y="390525"/>
                  <a:pt x="368895" y="384770"/>
                  <a:pt x="374749" y="382290"/>
                </a:cubicBezTo>
                <a:lnTo>
                  <a:pt x="424458" y="360958"/>
                </a:lnTo>
                <a:lnTo>
                  <a:pt x="445790" y="311249"/>
                </a:lnTo>
                <a:cubicBezTo>
                  <a:pt x="448270" y="305395"/>
                  <a:pt x="454025" y="301625"/>
                  <a:pt x="460375" y="301625"/>
                </a:cubicBezTo>
                <a:close/>
                <a:moveTo>
                  <a:pt x="456406" y="0"/>
                </a:moveTo>
                <a:cubicBezTo>
                  <a:pt x="467320" y="0"/>
                  <a:pt x="477838" y="4366"/>
                  <a:pt x="485676" y="12105"/>
                </a:cubicBezTo>
                <a:lnTo>
                  <a:pt x="527645" y="54074"/>
                </a:lnTo>
                <a:cubicBezTo>
                  <a:pt x="535384" y="61913"/>
                  <a:pt x="539750" y="72430"/>
                  <a:pt x="539750" y="83344"/>
                </a:cubicBezTo>
                <a:cubicBezTo>
                  <a:pt x="539750" y="94258"/>
                  <a:pt x="535384" y="104775"/>
                  <a:pt x="527645" y="112613"/>
                </a:cubicBezTo>
                <a:lnTo>
                  <a:pt x="440134" y="200124"/>
                </a:lnTo>
                <a:lnTo>
                  <a:pt x="339626" y="99616"/>
                </a:lnTo>
                <a:lnTo>
                  <a:pt x="427137" y="12105"/>
                </a:lnTo>
                <a:cubicBezTo>
                  <a:pt x="434975" y="4366"/>
                  <a:pt x="445492" y="0"/>
                  <a:pt x="456406" y="0"/>
                </a:cubicBezTo>
                <a:close/>
                <a:moveTo>
                  <a:pt x="43855" y="395387"/>
                </a:moveTo>
                <a:lnTo>
                  <a:pt x="305991" y="133251"/>
                </a:lnTo>
                <a:lnTo>
                  <a:pt x="406499" y="233759"/>
                </a:lnTo>
                <a:lnTo>
                  <a:pt x="144363" y="495895"/>
                </a:lnTo>
                <a:cubicBezTo>
                  <a:pt x="136525" y="503634"/>
                  <a:pt x="126008" y="508000"/>
                  <a:pt x="115094" y="508000"/>
                </a:cubicBezTo>
                <a:cubicBezTo>
                  <a:pt x="104180" y="508000"/>
                  <a:pt x="93663" y="503634"/>
                  <a:pt x="85824" y="495895"/>
                </a:cubicBezTo>
                <a:lnTo>
                  <a:pt x="43855" y="453926"/>
                </a:lnTo>
                <a:cubicBezTo>
                  <a:pt x="36116" y="446088"/>
                  <a:pt x="31750" y="435570"/>
                  <a:pt x="31750" y="424656"/>
                </a:cubicBezTo>
                <a:cubicBezTo>
                  <a:pt x="31750" y="413742"/>
                  <a:pt x="36116" y="403225"/>
                  <a:pt x="43855" y="395387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9398000" y="4172857"/>
            <a:ext cx="558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智能商品推荐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基于XGBoost的个性化推荐排序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636000" y="584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9342120" y="5702663"/>
            <a:ext cx="558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价格预测分析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时序回归预测未来价格走势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636000" y="736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2750" y="206375"/>
                </a:moveTo>
                <a:cubicBezTo>
                  <a:pt x="412750" y="251916"/>
                  <a:pt x="397966" y="293985"/>
                  <a:pt x="373063" y="328116"/>
                </a:cubicBezTo>
                <a:lnTo>
                  <a:pt x="498673" y="453827"/>
                </a:lnTo>
                <a:cubicBezTo>
                  <a:pt x="511076" y="466229"/>
                  <a:pt x="511076" y="486370"/>
                  <a:pt x="498673" y="498773"/>
                </a:cubicBezTo>
                <a:cubicBezTo>
                  <a:pt x="486271" y="511175"/>
                  <a:pt x="466130" y="511175"/>
                  <a:pt x="453727" y="498773"/>
                </a:cubicBezTo>
                <a:lnTo>
                  <a:pt x="328116" y="373063"/>
                </a:lnTo>
                <a:cubicBezTo>
                  <a:pt x="293985" y="397966"/>
                  <a:pt x="251916" y="412750"/>
                  <a:pt x="206375" y="412750"/>
                </a:cubicBezTo>
                <a:cubicBezTo>
                  <a:pt x="92373" y="412750"/>
                  <a:pt x="0" y="320377"/>
                  <a:pt x="0" y="206375"/>
                </a:cubicBezTo>
                <a:cubicBezTo>
                  <a:pt x="0" y="92373"/>
                  <a:pt x="92373" y="0"/>
                  <a:pt x="206375" y="0"/>
                </a:cubicBezTo>
                <a:cubicBezTo>
                  <a:pt x="320377" y="0"/>
                  <a:pt x="412750" y="92373"/>
                  <a:pt x="412750" y="206375"/>
                </a:cubicBezTo>
                <a:close/>
                <a:moveTo>
                  <a:pt x="285750" y="174625"/>
                </a:moveTo>
                <a:cubicBezTo>
                  <a:pt x="285750" y="130770"/>
                  <a:pt x="250230" y="95250"/>
                  <a:pt x="206375" y="95250"/>
                </a:cubicBezTo>
                <a:cubicBezTo>
                  <a:pt x="162520" y="95250"/>
                  <a:pt x="127000" y="130770"/>
                  <a:pt x="127000" y="174625"/>
                </a:cubicBezTo>
                <a:cubicBezTo>
                  <a:pt x="127000" y="223044"/>
                  <a:pt x="173137" y="285353"/>
                  <a:pt x="195064" y="312142"/>
                </a:cubicBezTo>
                <a:cubicBezTo>
                  <a:pt x="201017" y="319385"/>
                  <a:pt x="211733" y="319385"/>
                  <a:pt x="217587" y="312142"/>
                </a:cubicBezTo>
                <a:cubicBezTo>
                  <a:pt x="239514" y="285353"/>
                  <a:pt x="285651" y="223044"/>
                  <a:pt x="285651" y="174625"/>
                </a:cubicBezTo>
                <a:close/>
                <a:moveTo>
                  <a:pt x="174625" y="174625"/>
                </a:moveTo>
                <a:cubicBezTo>
                  <a:pt x="174625" y="157102"/>
                  <a:pt x="188852" y="142875"/>
                  <a:pt x="206375" y="142875"/>
                </a:cubicBezTo>
                <a:cubicBezTo>
                  <a:pt x="223898" y="142875"/>
                  <a:pt x="238125" y="157102"/>
                  <a:pt x="238125" y="174625"/>
                </a:cubicBezTo>
                <a:cubicBezTo>
                  <a:pt x="238125" y="192148"/>
                  <a:pt x="223898" y="206375"/>
                  <a:pt x="206375" y="206375"/>
                </a:cubicBezTo>
                <a:cubicBezTo>
                  <a:pt x="188852" y="206375"/>
                  <a:pt x="174625" y="192148"/>
                  <a:pt x="174625" y="174625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24" name="Text 22"/>
          <p:cNvSpPr/>
          <p:nvPr/>
        </p:nvSpPr>
        <p:spPr>
          <a:xfrm>
            <a:off x="9342120" y="7226663"/>
            <a:ext cx="558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商品溯源查询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全生命周期追溯信息展示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研究背景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667000" y="762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Text 3"/>
          <p:cNvSpPr/>
          <p:nvPr/>
        </p:nvSpPr>
        <p:spPr>
          <a:xfrm>
            <a:off x="2667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系统架构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53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后端实现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239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前端实现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算法验证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1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总结展望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736600"/>
            <a:ext cx="50800" cy="431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系统总体架构</a:t>
            </a:r>
            <a:endParaRPr 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2000" y="1397000"/>
            <a:ext cx="147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采用前后端分离B/S架构，前端Vue 3 SPA，后端Spring Boot微服务集群，Gateway统一入口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600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B9520D92-1B25-57E8-88DC-D12C3D056A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750141"/>
              </p:ext>
            </p:extLst>
          </p:nvPr>
        </p:nvGraphicFramePr>
        <p:xfrm>
          <a:off x="4699000" y="1854200"/>
          <a:ext cx="6252417" cy="708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259403" imgH="4830860" progId="Visio.Drawing.15">
                  <p:embed/>
                </p:oleObj>
              </mc:Choice>
              <mc:Fallback>
                <p:oleObj name="Visio" r:id="rId3" imgW="4259403" imgH="4830860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0" y="1854200"/>
                        <a:ext cx="6252417" cy="708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67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53000" y="762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953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后端实现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39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前端实现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算法验证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1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总结展望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736600"/>
            <a:ext cx="50800" cy="431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后端微服务架构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4699000" cy="66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C4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1524000"/>
            <a:ext cx="4699000" cy="76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4" name="Shape 12"/>
          <p:cNvSpPr/>
          <p:nvPr/>
        </p:nvSpPr>
        <p:spPr>
          <a:xfrm>
            <a:off x="2717800" y="1905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4171" y="266700"/>
                  <a:pt x="76200" y="266700"/>
                </a:cubicBezTo>
                <a:lnTo>
                  <a:pt x="457200" y="266700"/>
                </a:lnTo>
                <a:cubicBezTo>
                  <a:pt x="499229" y="266700"/>
                  <a:pt x="533400" y="232529"/>
                  <a:pt x="533400" y="190500"/>
                </a:cubicBezTo>
                <a:lnTo>
                  <a:pt x="533400" y="114300"/>
                </a:lnTo>
                <a:cubicBezTo>
                  <a:pt x="533400" y="72271"/>
                  <a:pt x="499229" y="38100"/>
                  <a:pt x="457200" y="38100"/>
                </a:cubicBezTo>
                <a:lnTo>
                  <a:pt x="76200" y="38100"/>
                </a:lnTo>
                <a:close/>
                <a:moveTo>
                  <a:pt x="333375" y="123825"/>
                </a:moveTo>
                <a:cubicBezTo>
                  <a:pt x="349146" y="123825"/>
                  <a:pt x="361950" y="136629"/>
                  <a:pt x="361950" y="152400"/>
                </a:cubicBezTo>
                <a:cubicBezTo>
                  <a:pt x="361950" y="168171"/>
                  <a:pt x="349146" y="180975"/>
                  <a:pt x="333375" y="180975"/>
                </a:cubicBezTo>
                <a:cubicBezTo>
                  <a:pt x="317604" y="180975"/>
                  <a:pt x="304800" y="168171"/>
                  <a:pt x="304800" y="152400"/>
                </a:cubicBezTo>
                <a:cubicBezTo>
                  <a:pt x="304800" y="136629"/>
                  <a:pt x="317604" y="123825"/>
                  <a:pt x="333375" y="123825"/>
                </a:cubicBezTo>
                <a:close/>
                <a:moveTo>
                  <a:pt x="400050" y="152400"/>
                </a:moveTo>
                <a:cubicBezTo>
                  <a:pt x="400050" y="136629"/>
                  <a:pt x="412854" y="123825"/>
                  <a:pt x="428625" y="123825"/>
                </a:cubicBezTo>
                <a:cubicBezTo>
                  <a:pt x="444396" y="123825"/>
                  <a:pt x="457200" y="136629"/>
                  <a:pt x="457200" y="152400"/>
                </a:cubicBezTo>
                <a:cubicBezTo>
                  <a:pt x="457200" y="168171"/>
                  <a:pt x="444396" y="180975"/>
                  <a:pt x="428625" y="180975"/>
                </a:cubicBezTo>
                <a:cubicBezTo>
                  <a:pt x="412854" y="180975"/>
                  <a:pt x="400050" y="168171"/>
                  <a:pt x="400050" y="152400"/>
                </a:cubicBezTo>
                <a:close/>
                <a:moveTo>
                  <a:pt x="76200" y="342900"/>
                </a:moveTo>
                <a:cubicBezTo>
                  <a:pt x="34171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419100"/>
                </a:lnTo>
                <a:cubicBezTo>
                  <a:pt x="533400" y="377071"/>
                  <a:pt x="499229" y="342900"/>
                  <a:pt x="457200" y="342900"/>
                </a:cubicBezTo>
                <a:lnTo>
                  <a:pt x="76200" y="342900"/>
                </a:lnTo>
                <a:close/>
                <a:moveTo>
                  <a:pt x="333375" y="428625"/>
                </a:moveTo>
                <a:cubicBezTo>
                  <a:pt x="349146" y="428625"/>
                  <a:pt x="361950" y="441429"/>
                  <a:pt x="361950" y="457200"/>
                </a:cubicBezTo>
                <a:cubicBezTo>
                  <a:pt x="361950" y="472971"/>
                  <a:pt x="349146" y="485775"/>
                  <a:pt x="333375" y="485775"/>
                </a:cubicBezTo>
                <a:cubicBezTo>
                  <a:pt x="317604" y="485775"/>
                  <a:pt x="304800" y="472971"/>
                  <a:pt x="304800" y="457200"/>
                </a:cubicBezTo>
                <a:cubicBezTo>
                  <a:pt x="304800" y="441429"/>
                  <a:pt x="317604" y="428625"/>
                  <a:pt x="333375" y="428625"/>
                </a:cubicBezTo>
                <a:close/>
                <a:moveTo>
                  <a:pt x="400050" y="457200"/>
                </a:moveTo>
                <a:cubicBezTo>
                  <a:pt x="400050" y="441429"/>
                  <a:pt x="412854" y="428625"/>
                  <a:pt x="428625" y="428625"/>
                </a:cubicBezTo>
                <a:cubicBezTo>
                  <a:pt x="444396" y="428625"/>
                  <a:pt x="457200" y="441429"/>
                  <a:pt x="457200" y="457200"/>
                </a:cubicBezTo>
                <a:cubicBezTo>
                  <a:pt x="457200" y="472971"/>
                  <a:pt x="444396" y="485775"/>
                  <a:pt x="428625" y="485775"/>
                </a:cubicBezTo>
                <a:cubicBezTo>
                  <a:pt x="412854" y="485775"/>
                  <a:pt x="400050" y="472971"/>
                  <a:pt x="400050" y="457200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2667000"/>
            <a:ext cx="419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核心业务服务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16000" y="3302000"/>
            <a:ext cx="4191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用户管理（注册/登录/JWT）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商品管理（发布/搜索/分类）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购物车（增删改查/结算）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订单管理（7状态流转）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评价反馈（发表/回复）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系统管理（审核/权限）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78500" y="1524000"/>
            <a:ext cx="4699000" cy="66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C4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78500" y="1524000"/>
            <a:ext cx="4699000" cy="76200"/>
          </a:xfrm>
          <a:prstGeom prst="rect">
            <a:avLst/>
          </a:prstGeom>
          <a:solidFill>
            <a:srgbClr val="5B8C7A"/>
          </a:solidFill>
          <a:ln/>
        </p:spPr>
      </p:sp>
      <p:sp>
        <p:nvSpPr>
          <p:cNvPr id="19" name="Shape 17"/>
          <p:cNvSpPr/>
          <p:nvPr/>
        </p:nvSpPr>
        <p:spPr>
          <a:xfrm>
            <a:off x="7658100" y="1905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13611" y="-32147"/>
                </a:moveTo>
                <a:lnTo>
                  <a:pt x="331232" y="11668"/>
                </a:lnTo>
                <a:lnTo>
                  <a:pt x="375047" y="29289"/>
                </a:lnTo>
                <a:cubicBezTo>
                  <a:pt x="378619" y="30718"/>
                  <a:pt x="381000" y="34290"/>
                  <a:pt x="381000" y="38100"/>
                </a:cubicBezTo>
                <a:cubicBezTo>
                  <a:pt x="381000" y="41910"/>
                  <a:pt x="378619" y="45482"/>
                  <a:pt x="375047" y="46911"/>
                </a:cubicBezTo>
                <a:lnTo>
                  <a:pt x="331232" y="64532"/>
                </a:lnTo>
                <a:lnTo>
                  <a:pt x="313611" y="108347"/>
                </a:lnTo>
                <a:cubicBezTo>
                  <a:pt x="312182" y="111919"/>
                  <a:pt x="308610" y="114300"/>
                  <a:pt x="304800" y="114300"/>
                </a:cubicBezTo>
                <a:cubicBezTo>
                  <a:pt x="300990" y="114300"/>
                  <a:pt x="297418" y="111919"/>
                  <a:pt x="295989" y="108347"/>
                </a:cubicBezTo>
                <a:lnTo>
                  <a:pt x="278368" y="64532"/>
                </a:lnTo>
                <a:lnTo>
                  <a:pt x="234553" y="46911"/>
                </a:lnTo>
                <a:cubicBezTo>
                  <a:pt x="230981" y="45482"/>
                  <a:pt x="228600" y="41910"/>
                  <a:pt x="228600" y="38100"/>
                </a:cubicBezTo>
                <a:cubicBezTo>
                  <a:pt x="228600" y="34290"/>
                  <a:pt x="230981" y="30718"/>
                  <a:pt x="234553" y="29289"/>
                </a:cubicBezTo>
                <a:lnTo>
                  <a:pt x="278368" y="11668"/>
                </a:lnTo>
                <a:lnTo>
                  <a:pt x="295989" y="-32147"/>
                </a:lnTo>
                <a:cubicBezTo>
                  <a:pt x="297418" y="-35719"/>
                  <a:pt x="300990" y="-38100"/>
                  <a:pt x="304800" y="-38100"/>
                </a:cubicBezTo>
                <a:cubicBezTo>
                  <a:pt x="308610" y="-38100"/>
                  <a:pt x="312182" y="-35719"/>
                  <a:pt x="313611" y="-32147"/>
                </a:cubicBezTo>
                <a:close/>
                <a:moveTo>
                  <a:pt x="131802" y="49649"/>
                </a:moveTo>
                <a:lnTo>
                  <a:pt x="157401" y="109299"/>
                </a:lnTo>
                <a:lnTo>
                  <a:pt x="217051" y="134898"/>
                </a:lnTo>
                <a:cubicBezTo>
                  <a:pt x="224076" y="137874"/>
                  <a:pt x="228600" y="144780"/>
                  <a:pt x="228600" y="152400"/>
                </a:cubicBezTo>
                <a:cubicBezTo>
                  <a:pt x="228600" y="160020"/>
                  <a:pt x="224076" y="166926"/>
                  <a:pt x="217051" y="169902"/>
                </a:cubicBezTo>
                <a:lnTo>
                  <a:pt x="157401" y="195501"/>
                </a:lnTo>
                <a:lnTo>
                  <a:pt x="131802" y="255151"/>
                </a:lnTo>
                <a:cubicBezTo>
                  <a:pt x="128826" y="262176"/>
                  <a:pt x="121920" y="266700"/>
                  <a:pt x="114300" y="266700"/>
                </a:cubicBezTo>
                <a:cubicBezTo>
                  <a:pt x="106680" y="266700"/>
                  <a:pt x="99774" y="262176"/>
                  <a:pt x="96798" y="255151"/>
                </a:cubicBezTo>
                <a:lnTo>
                  <a:pt x="71199" y="195501"/>
                </a:lnTo>
                <a:lnTo>
                  <a:pt x="11549" y="169902"/>
                </a:lnTo>
                <a:cubicBezTo>
                  <a:pt x="4524" y="166926"/>
                  <a:pt x="0" y="160020"/>
                  <a:pt x="0" y="152400"/>
                </a:cubicBezTo>
                <a:cubicBezTo>
                  <a:pt x="0" y="144780"/>
                  <a:pt x="4524" y="137874"/>
                  <a:pt x="11549" y="134898"/>
                </a:cubicBezTo>
                <a:lnTo>
                  <a:pt x="71199" y="109299"/>
                </a:lnTo>
                <a:lnTo>
                  <a:pt x="96798" y="49649"/>
                </a:lnTo>
                <a:cubicBezTo>
                  <a:pt x="99774" y="42624"/>
                  <a:pt x="106680" y="38100"/>
                  <a:pt x="114300" y="38100"/>
                </a:cubicBezTo>
                <a:cubicBezTo>
                  <a:pt x="121920" y="38100"/>
                  <a:pt x="128826" y="42624"/>
                  <a:pt x="131802" y="49649"/>
                </a:cubicBezTo>
                <a:close/>
                <a:moveTo>
                  <a:pt x="552450" y="361950"/>
                </a:moveTo>
                <a:cubicBezTo>
                  <a:pt x="560070" y="361950"/>
                  <a:pt x="566976" y="366474"/>
                  <a:pt x="569952" y="373499"/>
                </a:cubicBezTo>
                <a:lnTo>
                  <a:pt x="595551" y="433149"/>
                </a:lnTo>
                <a:lnTo>
                  <a:pt x="655201" y="458748"/>
                </a:lnTo>
                <a:cubicBezTo>
                  <a:pt x="662226" y="461724"/>
                  <a:pt x="666750" y="468630"/>
                  <a:pt x="666750" y="476250"/>
                </a:cubicBezTo>
                <a:cubicBezTo>
                  <a:pt x="666750" y="483870"/>
                  <a:pt x="662226" y="490776"/>
                  <a:pt x="655201" y="493752"/>
                </a:cubicBezTo>
                <a:lnTo>
                  <a:pt x="595551" y="519351"/>
                </a:lnTo>
                <a:lnTo>
                  <a:pt x="569952" y="579001"/>
                </a:lnTo>
                <a:cubicBezTo>
                  <a:pt x="566976" y="586026"/>
                  <a:pt x="560070" y="590550"/>
                  <a:pt x="552450" y="590550"/>
                </a:cubicBezTo>
                <a:cubicBezTo>
                  <a:pt x="544830" y="590550"/>
                  <a:pt x="537924" y="586026"/>
                  <a:pt x="534948" y="579001"/>
                </a:cubicBezTo>
                <a:lnTo>
                  <a:pt x="509349" y="519351"/>
                </a:lnTo>
                <a:lnTo>
                  <a:pt x="449699" y="493752"/>
                </a:lnTo>
                <a:cubicBezTo>
                  <a:pt x="442674" y="490776"/>
                  <a:pt x="438150" y="483870"/>
                  <a:pt x="438150" y="476250"/>
                </a:cubicBezTo>
                <a:cubicBezTo>
                  <a:pt x="438150" y="468630"/>
                  <a:pt x="442674" y="461724"/>
                  <a:pt x="449699" y="458748"/>
                </a:cubicBezTo>
                <a:lnTo>
                  <a:pt x="509349" y="433149"/>
                </a:lnTo>
                <a:lnTo>
                  <a:pt x="534948" y="373499"/>
                </a:lnTo>
                <a:cubicBezTo>
                  <a:pt x="537924" y="366474"/>
                  <a:pt x="544830" y="361950"/>
                  <a:pt x="552450" y="361950"/>
                </a:cubicBezTo>
                <a:close/>
                <a:moveTo>
                  <a:pt x="547688" y="0"/>
                </a:moveTo>
                <a:cubicBezTo>
                  <a:pt x="560784" y="0"/>
                  <a:pt x="573405" y="5239"/>
                  <a:pt x="582811" y="14526"/>
                </a:cubicBezTo>
                <a:lnTo>
                  <a:pt x="633174" y="64889"/>
                </a:lnTo>
                <a:cubicBezTo>
                  <a:pt x="642461" y="74295"/>
                  <a:pt x="647700" y="86916"/>
                  <a:pt x="647700" y="100013"/>
                </a:cubicBezTo>
                <a:cubicBezTo>
                  <a:pt x="647700" y="113109"/>
                  <a:pt x="642461" y="125730"/>
                  <a:pt x="633174" y="135136"/>
                </a:cubicBezTo>
                <a:lnTo>
                  <a:pt x="528161" y="240149"/>
                </a:lnTo>
                <a:lnTo>
                  <a:pt x="407551" y="119539"/>
                </a:lnTo>
                <a:lnTo>
                  <a:pt x="512564" y="14526"/>
                </a:lnTo>
                <a:cubicBezTo>
                  <a:pt x="521970" y="5239"/>
                  <a:pt x="534591" y="0"/>
                  <a:pt x="547688" y="0"/>
                </a:cubicBezTo>
                <a:close/>
                <a:moveTo>
                  <a:pt x="52626" y="474464"/>
                </a:moveTo>
                <a:lnTo>
                  <a:pt x="367189" y="159901"/>
                </a:lnTo>
                <a:lnTo>
                  <a:pt x="487799" y="280511"/>
                </a:lnTo>
                <a:lnTo>
                  <a:pt x="173236" y="595074"/>
                </a:lnTo>
                <a:cubicBezTo>
                  <a:pt x="163830" y="604361"/>
                  <a:pt x="151209" y="609600"/>
                  <a:pt x="138113" y="609600"/>
                </a:cubicBezTo>
                <a:cubicBezTo>
                  <a:pt x="125016" y="609600"/>
                  <a:pt x="112395" y="604361"/>
                  <a:pt x="102989" y="595074"/>
                </a:cubicBezTo>
                <a:lnTo>
                  <a:pt x="52626" y="544711"/>
                </a:lnTo>
                <a:cubicBezTo>
                  <a:pt x="43339" y="535305"/>
                  <a:pt x="38100" y="522684"/>
                  <a:pt x="38100" y="509588"/>
                </a:cubicBezTo>
                <a:cubicBezTo>
                  <a:pt x="38100" y="496491"/>
                  <a:pt x="43339" y="483870"/>
                  <a:pt x="52626" y="474464"/>
                </a:cubicBezTo>
                <a:close/>
              </a:path>
            </a:pathLst>
          </a:custGeom>
          <a:solidFill>
            <a:srgbClr val="5B8C7A"/>
          </a:solidFill>
          <a:ln/>
        </p:spPr>
      </p:sp>
      <p:sp>
        <p:nvSpPr>
          <p:cNvPr id="20" name="Text 18"/>
          <p:cNvSpPr/>
          <p:nvPr/>
        </p:nvSpPr>
        <p:spPr>
          <a:xfrm>
            <a:off x="6032500" y="2667000"/>
            <a:ext cx="419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推荐微服务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32500" y="3302000"/>
            <a:ext cx="4191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5B8C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XGBoost二分类模型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5B8C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28维特征工程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5B8C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离线训练+在线推理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5B8C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个性化推荐排序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5B8C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热门/新品推荐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5B8C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行为日志采集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795000" y="1524000"/>
            <a:ext cx="4699000" cy="66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C4B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3" name="Shape 21"/>
          <p:cNvSpPr/>
          <p:nvPr/>
        </p:nvSpPr>
        <p:spPr>
          <a:xfrm>
            <a:off x="10795000" y="1524000"/>
            <a:ext cx="4699000" cy="76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12712700" y="190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11049000" y="2667000"/>
            <a:ext cx="419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预测微服务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049000" y="3302000"/>
            <a:ext cx="4191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XGBoost回归模型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25维时序特征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按品类地域独立训练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未来7天价格预测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建议售价生成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C9A2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价格走势可视化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67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53000" y="762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953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后端实现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39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前端实现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算法验证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1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总结展望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736600"/>
            <a:ext cx="50800" cy="431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后端核心功能实现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2000" y="14605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分层架构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62000" y="2032000"/>
            <a:ext cx="6858000" cy="6096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032000"/>
            <a:ext cx="6858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Controller</a:t>
            </a: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接收HTTP请求 / 参数校验 / 响应封装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2768600"/>
            <a:ext cx="6858000" cy="609600"/>
          </a:xfrm>
          <a:prstGeom prst="roundRect">
            <a:avLst>
              <a:gd name="adj" fmla="val 6000"/>
            </a:avLst>
          </a:prstGeom>
          <a:solidFill>
            <a:srgbClr val="5B8C7A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2768600"/>
            <a:ext cx="6858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Service</a:t>
            </a: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业务逻辑 / 事务控制 / 规则校验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505200"/>
            <a:ext cx="6858000" cy="609600"/>
          </a:xfrm>
          <a:prstGeom prst="roundRect">
            <a:avLst>
              <a:gd name="adj" fmla="val 6000"/>
            </a:avLst>
          </a:prstGeom>
          <a:solidFill>
            <a:srgbClr val="A7C4BC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3505200"/>
            <a:ext cx="6858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Repository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JPA数据访问 / CRUD操作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241800"/>
            <a:ext cx="6858000" cy="609600"/>
          </a:xfrm>
          <a:prstGeom prst="roundRect">
            <a:avLst>
              <a:gd name="adj" fmla="val 6000"/>
            </a:avLst>
          </a:prstGeom>
          <a:solidFill>
            <a:srgbClr val="E8F0EC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4241800"/>
            <a:ext cx="6858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Entity / DTO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数据映射 / 接口解耦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0" y="1460500"/>
            <a:ext cx="736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JWT无状态认证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128000" y="2032000"/>
            <a:ext cx="7366000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登录成功后签发JWT Token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Token含userId + username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HMAC-SHA256签名，有效期1天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网关层统一解析验证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注解+Aspect权限校验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2000" y="52070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订单状态流转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62000" y="5842000"/>
            <a:ext cx="1651000" cy="5588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5842000"/>
            <a:ext cx="1651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待付款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413000" y="6108700"/>
            <a:ext cx="381000" cy="0"/>
          </a:xfrm>
          <a:prstGeom prst="straightConnector1">
            <a:avLst/>
          </a:prstGeom>
          <a:noFill/>
          <a:ln w="25400">
            <a:solidFill>
              <a:srgbClr val="A7C4BC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2794000" y="5842000"/>
            <a:ext cx="1651000" cy="558800"/>
          </a:xfrm>
          <a:prstGeom prst="roundRect">
            <a:avLst>
              <a:gd name="adj" fmla="val 10000"/>
            </a:avLst>
          </a:prstGeom>
          <a:solidFill>
            <a:srgbClr val="5B8C7A"/>
          </a:solidFill>
          <a:ln/>
        </p:spPr>
      </p:sp>
      <p:sp>
        <p:nvSpPr>
          <p:cNvPr id="28" name="Text 26"/>
          <p:cNvSpPr/>
          <p:nvPr/>
        </p:nvSpPr>
        <p:spPr>
          <a:xfrm>
            <a:off x="2794000" y="5842000"/>
            <a:ext cx="1651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已付款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45000" y="6108700"/>
            <a:ext cx="381000" cy="0"/>
          </a:xfrm>
          <a:prstGeom prst="straightConnector1">
            <a:avLst/>
          </a:prstGeom>
          <a:noFill/>
          <a:ln w="25400">
            <a:solidFill>
              <a:srgbClr val="A7C4BC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826000" y="5842000"/>
            <a:ext cx="1651000" cy="558800"/>
          </a:xfrm>
          <a:prstGeom prst="roundRect">
            <a:avLst>
              <a:gd name="adj" fmla="val 10000"/>
            </a:avLst>
          </a:prstGeom>
          <a:solidFill>
            <a:srgbClr val="5B8C7A"/>
          </a:solidFill>
          <a:ln/>
        </p:spPr>
      </p:sp>
      <p:sp>
        <p:nvSpPr>
          <p:cNvPr id="31" name="Text 29"/>
          <p:cNvSpPr/>
          <p:nvPr/>
        </p:nvSpPr>
        <p:spPr>
          <a:xfrm>
            <a:off x="4826000" y="5842000"/>
            <a:ext cx="1651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已发货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77000" y="6108700"/>
            <a:ext cx="381000" cy="0"/>
          </a:xfrm>
          <a:prstGeom prst="straightConnector1">
            <a:avLst/>
          </a:prstGeom>
          <a:noFill/>
          <a:ln w="25400">
            <a:solidFill>
              <a:srgbClr val="A7C4BC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6858000" y="5842000"/>
            <a:ext cx="1651000" cy="558800"/>
          </a:xfrm>
          <a:prstGeom prst="roundRect">
            <a:avLst>
              <a:gd name="adj" fmla="val 10000"/>
            </a:avLst>
          </a:prstGeom>
          <a:solidFill>
            <a:srgbClr val="5B8C7A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5842000"/>
            <a:ext cx="1651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已收货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09000" y="6108700"/>
            <a:ext cx="381000" cy="0"/>
          </a:xfrm>
          <a:prstGeom prst="straightConnector1">
            <a:avLst/>
          </a:prstGeom>
          <a:noFill/>
          <a:ln w="25400">
            <a:solidFill>
              <a:srgbClr val="A7C4BC"/>
            </a:solidFill>
            <a:prstDash val="solid"/>
            <a:headEnd type="none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8890000" y="5842000"/>
            <a:ext cx="1651000" cy="5588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8890000" y="5842000"/>
            <a:ext cx="1651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2000" y="6604000"/>
            <a:ext cx="1016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订单创建采用事务保证数据一致：校验库存 → 计算金额 → 生成订单号 →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扣减库存 → 创建订单记录 → 保存地址快照 → 清空购物车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支持取消（恢复库存）与退款流程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67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53000" y="762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953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后端实现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39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前端实现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算法验证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1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总结展望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736600"/>
            <a:ext cx="50800" cy="431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数据库设计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2000" y="1397000"/>
            <a:ext cx="1473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8.0 数据库 </a:t>
            </a:r>
            <a:r>
              <a:rPr lang="en-US" sz="18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agri_direct_trade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，共 </a:t>
            </a:r>
            <a:r>
              <a:rPr lang="en-US" sz="18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张表，按 </a:t>
            </a:r>
            <a:r>
              <a:rPr lang="en-US" sz="18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个业务域划分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794014"/>
              </p:ext>
            </p:extLst>
          </p:nvPr>
        </p:nvGraphicFramePr>
        <p:xfrm>
          <a:off x="762000" y="2032000"/>
          <a:ext cx="14732000" cy="6096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业务域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charset="0"/>
                        </a:rPr>
                        <a:t>表名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用户中心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users, farmers, user_profiles, addresses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商品中心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categories, products, product_images, product_trace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交易中心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carts, cart_items, orders, order_items, payments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行为与推荐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user_behaviors, recommendations, product_similarity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价格预测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price_history, external_market_data, price_predictions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评价反馈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reviews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系统支撑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admin_users, system_logs, notifications, farmer_price_suggestions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67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53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后端实现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39000" y="762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前端实现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算法验证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1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总结展望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736600"/>
            <a:ext cx="50800" cy="431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前端技术架构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62000" y="1460500"/>
            <a:ext cx="1651000" cy="457200"/>
          </a:xfrm>
          <a:prstGeom prst="roundRect">
            <a:avLst>
              <a:gd name="adj" fmla="val 14000"/>
            </a:avLst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605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40000" y="1460500"/>
            <a:ext cx="1651000" cy="457200"/>
          </a:xfrm>
          <a:prstGeom prst="roundRect">
            <a:avLst>
              <a:gd name="adj" fmla="val 14000"/>
            </a:avLst>
          </a:prstGeom>
          <a:solidFill>
            <a:srgbClr val="5B8C7A"/>
          </a:solidFill>
          <a:ln/>
        </p:spPr>
      </p:sp>
      <p:sp>
        <p:nvSpPr>
          <p:cNvPr id="15" name="Text 13"/>
          <p:cNvSpPr/>
          <p:nvPr/>
        </p:nvSpPr>
        <p:spPr>
          <a:xfrm>
            <a:off x="2540000" y="14605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18000" y="1460500"/>
            <a:ext cx="1651000" cy="457200"/>
          </a:xfrm>
          <a:prstGeom prst="roundRect">
            <a:avLst>
              <a:gd name="adj" fmla="val 14000"/>
            </a:avLst>
          </a:prstGeom>
          <a:solidFill>
            <a:srgbClr val="5B8C7A"/>
          </a:solidFill>
          <a:ln/>
        </p:spPr>
      </p:sp>
      <p:sp>
        <p:nvSpPr>
          <p:cNvPr id="17" name="Text 15"/>
          <p:cNvSpPr/>
          <p:nvPr/>
        </p:nvSpPr>
        <p:spPr>
          <a:xfrm>
            <a:off x="4318000" y="14605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Element Plus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0" y="1460500"/>
            <a:ext cx="1651000" cy="457200"/>
          </a:xfrm>
          <a:prstGeom prst="roundRect">
            <a:avLst>
              <a:gd name="adj" fmla="val 14000"/>
            </a:avLst>
          </a:prstGeom>
          <a:solidFill>
            <a:srgbClr val="5B8C7A"/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0" y="14605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Pinia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74000" y="1460500"/>
            <a:ext cx="1651000" cy="457200"/>
          </a:xfrm>
          <a:prstGeom prst="roundRect">
            <a:avLst>
              <a:gd name="adj" fmla="val 14000"/>
            </a:avLst>
          </a:prstGeom>
          <a:solidFill>
            <a:srgbClr val="5B8C7A"/>
          </a:solidFill>
          <a:ln/>
        </p:spPr>
      </p:sp>
      <p:sp>
        <p:nvSpPr>
          <p:cNvPr id="21" name="Text 19"/>
          <p:cNvSpPr/>
          <p:nvPr/>
        </p:nvSpPr>
        <p:spPr>
          <a:xfrm>
            <a:off x="7874000" y="1460500"/>
            <a:ext cx="165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Axios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22225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五套布局组件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62000" y="2794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FrontLayout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前台公开页面（首页/搜索/详情）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UserLayout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用户中心（信息/地址/订单）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FarmerLayout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农户中心（商品/订单/定价）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AdminLayout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管理后台（审核/统计）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AuthLayout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登录注册页面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82000" y="22225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Pinia 状态管理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382000" y="2794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userStore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Token / 用户信息 / 角色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cartStore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购物车 / 总件数 / 总金额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appStore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全局加载状态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2000" y="55880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前后端数据交互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62000" y="61595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Axios统一封装，自动注入Token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10个API模块按业务域拆分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响应拦截器统一错误处理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路由懒加载，按需引入组件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382000" y="55880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工程化实践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382000" y="61595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Vite构建，毫秒级冷启动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按需引入Element Plus组件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@别名映射src目录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环境变量管理不同配置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67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53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后端实现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39000" y="762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前端实现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25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算法验证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1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总结展望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736600"/>
            <a:ext cx="50800" cy="431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前端页面效果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816350" y="2413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79375"/>
                </a:moveTo>
                <a:cubicBezTo>
                  <a:pt x="54769" y="79375"/>
                  <a:pt x="47625" y="86519"/>
                  <a:pt x="47625" y="95250"/>
                </a:cubicBezTo>
                <a:lnTo>
                  <a:pt x="47625" y="412750"/>
                </a:lnTo>
                <a:cubicBezTo>
                  <a:pt x="47625" y="421481"/>
                  <a:pt x="54769" y="428625"/>
                  <a:pt x="63500" y="428625"/>
                </a:cubicBezTo>
                <a:lnTo>
                  <a:pt x="381000" y="428625"/>
                </a:lnTo>
                <a:cubicBezTo>
                  <a:pt x="389731" y="428625"/>
                  <a:pt x="396875" y="421481"/>
                  <a:pt x="396875" y="412750"/>
                </a:cubicBezTo>
                <a:lnTo>
                  <a:pt x="396875" y="95250"/>
                </a:lnTo>
                <a:cubicBezTo>
                  <a:pt x="396875" y="86519"/>
                  <a:pt x="389731" y="79375"/>
                  <a:pt x="381000" y="79375"/>
                </a:cubicBezTo>
                <a:lnTo>
                  <a:pt x="63500" y="79375"/>
                </a:lnTo>
                <a:close/>
                <a:moveTo>
                  <a:pt x="0" y="95250"/>
                </a:moveTo>
                <a:cubicBezTo>
                  <a:pt x="0" y="60226"/>
                  <a:pt x="28476" y="31750"/>
                  <a:pt x="63500" y="31750"/>
                </a:cubicBezTo>
                <a:lnTo>
                  <a:pt x="381000" y="31750"/>
                </a:lnTo>
                <a:cubicBezTo>
                  <a:pt x="416024" y="31750"/>
                  <a:pt x="444500" y="60226"/>
                  <a:pt x="444500" y="95250"/>
                </a:cubicBezTo>
                <a:lnTo>
                  <a:pt x="444500" y="412750"/>
                </a:lnTo>
                <a:cubicBezTo>
                  <a:pt x="444500" y="447774"/>
                  <a:pt x="416024" y="476250"/>
                  <a:pt x="381000" y="476250"/>
                </a:cubicBezTo>
                <a:lnTo>
                  <a:pt x="63500" y="476250"/>
                </a:lnTo>
                <a:cubicBezTo>
                  <a:pt x="28476" y="476250"/>
                  <a:pt x="0" y="447774"/>
                  <a:pt x="0" y="412750"/>
                </a:cubicBezTo>
                <a:lnTo>
                  <a:pt x="0" y="95250"/>
                </a:lnTo>
                <a:close/>
                <a:moveTo>
                  <a:pt x="127000" y="127000"/>
                </a:moveTo>
                <a:cubicBezTo>
                  <a:pt x="144523" y="127000"/>
                  <a:pt x="158750" y="141227"/>
                  <a:pt x="158750" y="158750"/>
                </a:cubicBezTo>
                <a:cubicBezTo>
                  <a:pt x="158750" y="176273"/>
                  <a:pt x="144523" y="190500"/>
                  <a:pt x="127000" y="190500"/>
                </a:cubicBezTo>
                <a:cubicBezTo>
                  <a:pt x="109477" y="190500"/>
                  <a:pt x="95250" y="176273"/>
                  <a:pt x="95250" y="158750"/>
                </a:cubicBezTo>
                <a:cubicBezTo>
                  <a:pt x="95250" y="141227"/>
                  <a:pt x="109477" y="127000"/>
                  <a:pt x="127000" y="127000"/>
                </a:cubicBezTo>
                <a:close/>
                <a:moveTo>
                  <a:pt x="261937" y="198438"/>
                </a:moveTo>
                <a:cubicBezTo>
                  <a:pt x="270371" y="198438"/>
                  <a:pt x="278209" y="202902"/>
                  <a:pt x="282476" y="210145"/>
                </a:cubicBezTo>
                <a:lnTo>
                  <a:pt x="361851" y="345083"/>
                </a:lnTo>
                <a:cubicBezTo>
                  <a:pt x="366216" y="352425"/>
                  <a:pt x="366216" y="361553"/>
                  <a:pt x="361950" y="368995"/>
                </a:cubicBezTo>
                <a:cubicBezTo>
                  <a:pt x="357684" y="376436"/>
                  <a:pt x="349845" y="381000"/>
                  <a:pt x="341313" y="381000"/>
                </a:cubicBezTo>
                <a:lnTo>
                  <a:pt x="103188" y="381000"/>
                </a:lnTo>
                <a:cubicBezTo>
                  <a:pt x="94357" y="381000"/>
                  <a:pt x="86122" y="376039"/>
                  <a:pt x="82054" y="368201"/>
                </a:cubicBezTo>
                <a:cubicBezTo>
                  <a:pt x="77986" y="360363"/>
                  <a:pt x="78581" y="350838"/>
                  <a:pt x="83641" y="343595"/>
                </a:cubicBezTo>
                <a:lnTo>
                  <a:pt x="139204" y="264220"/>
                </a:lnTo>
                <a:cubicBezTo>
                  <a:pt x="143669" y="257870"/>
                  <a:pt x="150912" y="254099"/>
                  <a:pt x="158750" y="254099"/>
                </a:cubicBezTo>
                <a:cubicBezTo>
                  <a:pt x="166588" y="254099"/>
                  <a:pt x="173831" y="257870"/>
                  <a:pt x="178296" y="264220"/>
                </a:cubicBezTo>
                <a:lnTo>
                  <a:pt x="195362" y="288627"/>
                </a:lnTo>
                <a:lnTo>
                  <a:pt x="241498" y="210245"/>
                </a:lnTo>
                <a:cubicBezTo>
                  <a:pt x="245765" y="203002"/>
                  <a:pt x="253603" y="198537"/>
                  <a:pt x="262037" y="198537"/>
                </a:cubicBezTo>
                <a:close/>
              </a:path>
            </a:pathLst>
          </a:custGeom>
          <a:solidFill>
            <a:srgbClr val="A7C4BC"/>
          </a:solidFill>
          <a:ln/>
        </p:spPr>
      </p:sp>
      <p:sp>
        <p:nvSpPr>
          <p:cNvPr id="14" name="Text 12"/>
          <p:cNvSpPr/>
          <p:nvPr/>
        </p:nvSpPr>
        <p:spPr>
          <a:xfrm>
            <a:off x="1397000" y="3048000"/>
            <a:ext cx="5905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B9D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【此处放置首页截图】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0850" y="8445500"/>
            <a:ext cx="717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</a:t>
            </a: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：Banner + 分类 + 推荐 + 热门 + 新品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372850" y="2413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79375"/>
                </a:moveTo>
                <a:cubicBezTo>
                  <a:pt x="54769" y="79375"/>
                  <a:pt x="47625" y="86519"/>
                  <a:pt x="47625" y="95250"/>
                </a:cubicBezTo>
                <a:lnTo>
                  <a:pt x="47625" y="412750"/>
                </a:lnTo>
                <a:cubicBezTo>
                  <a:pt x="47625" y="421481"/>
                  <a:pt x="54769" y="428625"/>
                  <a:pt x="63500" y="428625"/>
                </a:cubicBezTo>
                <a:lnTo>
                  <a:pt x="381000" y="428625"/>
                </a:lnTo>
                <a:cubicBezTo>
                  <a:pt x="389731" y="428625"/>
                  <a:pt x="396875" y="421481"/>
                  <a:pt x="396875" y="412750"/>
                </a:cubicBezTo>
                <a:lnTo>
                  <a:pt x="396875" y="95250"/>
                </a:lnTo>
                <a:cubicBezTo>
                  <a:pt x="396875" y="86519"/>
                  <a:pt x="389731" y="79375"/>
                  <a:pt x="381000" y="79375"/>
                </a:cubicBezTo>
                <a:lnTo>
                  <a:pt x="63500" y="79375"/>
                </a:lnTo>
                <a:close/>
                <a:moveTo>
                  <a:pt x="0" y="95250"/>
                </a:moveTo>
                <a:cubicBezTo>
                  <a:pt x="0" y="60226"/>
                  <a:pt x="28476" y="31750"/>
                  <a:pt x="63500" y="31750"/>
                </a:cubicBezTo>
                <a:lnTo>
                  <a:pt x="381000" y="31750"/>
                </a:lnTo>
                <a:cubicBezTo>
                  <a:pt x="416024" y="31750"/>
                  <a:pt x="444500" y="60226"/>
                  <a:pt x="444500" y="95250"/>
                </a:cubicBezTo>
                <a:lnTo>
                  <a:pt x="444500" y="412750"/>
                </a:lnTo>
                <a:cubicBezTo>
                  <a:pt x="444500" y="447774"/>
                  <a:pt x="416024" y="476250"/>
                  <a:pt x="381000" y="476250"/>
                </a:cubicBezTo>
                <a:lnTo>
                  <a:pt x="63500" y="476250"/>
                </a:lnTo>
                <a:cubicBezTo>
                  <a:pt x="28476" y="476250"/>
                  <a:pt x="0" y="447774"/>
                  <a:pt x="0" y="412750"/>
                </a:cubicBezTo>
                <a:lnTo>
                  <a:pt x="0" y="95250"/>
                </a:lnTo>
                <a:close/>
                <a:moveTo>
                  <a:pt x="127000" y="127000"/>
                </a:moveTo>
                <a:cubicBezTo>
                  <a:pt x="144523" y="127000"/>
                  <a:pt x="158750" y="141227"/>
                  <a:pt x="158750" y="158750"/>
                </a:cubicBezTo>
                <a:cubicBezTo>
                  <a:pt x="158750" y="176273"/>
                  <a:pt x="144523" y="190500"/>
                  <a:pt x="127000" y="190500"/>
                </a:cubicBezTo>
                <a:cubicBezTo>
                  <a:pt x="109477" y="190500"/>
                  <a:pt x="95250" y="176273"/>
                  <a:pt x="95250" y="158750"/>
                </a:cubicBezTo>
                <a:cubicBezTo>
                  <a:pt x="95250" y="141227"/>
                  <a:pt x="109477" y="127000"/>
                  <a:pt x="127000" y="127000"/>
                </a:cubicBezTo>
                <a:close/>
                <a:moveTo>
                  <a:pt x="261937" y="198438"/>
                </a:moveTo>
                <a:cubicBezTo>
                  <a:pt x="270371" y="198438"/>
                  <a:pt x="278209" y="202902"/>
                  <a:pt x="282476" y="210145"/>
                </a:cubicBezTo>
                <a:lnTo>
                  <a:pt x="361851" y="345083"/>
                </a:lnTo>
                <a:cubicBezTo>
                  <a:pt x="366216" y="352425"/>
                  <a:pt x="366216" y="361553"/>
                  <a:pt x="361950" y="368995"/>
                </a:cubicBezTo>
                <a:cubicBezTo>
                  <a:pt x="357684" y="376436"/>
                  <a:pt x="349845" y="381000"/>
                  <a:pt x="341313" y="381000"/>
                </a:cubicBezTo>
                <a:lnTo>
                  <a:pt x="103188" y="381000"/>
                </a:lnTo>
                <a:cubicBezTo>
                  <a:pt x="94357" y="381000"/>
                  <a:pt x="86122" y="376039"/>
                  <a:pt x="82054" y="368201"/>
                </a:cubicBezTo>
                <a:cubicBezTo>
                  <a:pt x="77986" y="360363"/>
                  <a:pt x="78581" y="350838"/>
                  <a:pt x="83641" y="343595"/>
                </a:cubicBezTo>
                <a:lnTo>
                  <a:pt x="139204" y="264220"/>
                </a:lnTo>
                <a:cubicBezTo>
                  <a:pt x="143669" y="257870"/>
                  <a:pt x="150912" y="254099"/>
                  <a:pt x="158750" y="254099"/>
                </a:cubicBezTo>
                <a:cubicBezTo>
                  <a:pt x="166588" y="254099"/>
                  <a:pt x="173831" y="257870"/>
                  <a:pt x="178296" y="264220"/>
                </a:cubicBezTo>
                <a:lnTo>
                  <a:pt x="195362" y="288627"/>
                </a:lnTo>
                <a:lnTo>
                  <a:pt x="241498" y="210245"/>
                </a:lnTo>
                <a:cubicBezTo>
                  <a:pt x="245765" y="203002"/>
                  <a:pt x="253603" y="198537"/>
                  <a:pt x="262037" y="198537"/>
                </a:cubicBezTo>
                <a:close/>
              </a:path>
            </a:pathLst>
          </a:custGeom>
          <a:solidFill>
            <a:srgbClr val="A7C4BC"/>
          </a:solidFill>
          <a:ln/>
        </p:spPr>
      </p:sp>
      <p:sp>
        <p:nvSpPr>
          <p:cNvPr id="18" name="Text 16"/>
          <p:cNvSpPr/>
          <p:nvPr/>
        </p:nvSpPr>
        <p:spPr>
          <a:xfrm>
            <a:off x="8953500" y="3048000"/>
            <a:ext cx="5905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B9D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【此处放置商品详情页截图】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07350" y="8462554"/>
            <a:ext cx="717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商品详情</a:t>
            </a: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：详情 / 价格走势 / 溯源 / 评价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240000" y="88392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60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29362963-90DD-F319-EB3E-5967D0762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726" y="1657254"/>
            <a:ext cx="7442066" cy="58147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F23BBE28-877F-4518-5375-4762F287F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1657254"/>
            <a:ext cx="6430526" cy="5814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67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53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后端实现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39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前端实现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525000" y="762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算法验证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1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总结展望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736600"/>
            <a:ext cx="50800" cy="431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智能推荐引擎设计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2000" y="1397000"/>
            <a:ext cx="1473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XGBoost 二分类模型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：预测用户对候选商品的点击/转化概率，离线训练 + 在线推理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032000"/>
            <a:ext cx="34925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C4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2032000"/>
            <a:ext cx="3492500" cy="6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1400" y="2286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196850"/>
                </a:moveTo>
                <a:cubicBezTo>
                  <a:pt x="230370" y="196850"/>
                  <a:pt x="273050" y="154170"/>
                  <a:pt x="273050" y="101600"/>
                </a:cubicBezTo>
                <a:cubicBezTo>
                  <a:pt x="273050" y="49030"/>
                  <a:pt x="230370" y="6350"/>
                  <a:pt x="177800" y="6350"/>
                </a:cubicBezTo>
                <a:cubicBezTo>
                  <a:pt x="125230" y="6350"/>
                  <a:pt x="82550" y="49030"/>
                  <a:pt x="82550" y="101600"/>
                </a:cubicBezTo>
                <a:cubicBezTo>
                  <a:pt x="82550" y="154170"/>
                  <a:pt x="125230" y="196850"/>
                  <a:pt x="177800" y="196850"/>
                </a:cubicBezTo>
                <a:close/>
                <a:moveTo>
                  <a:pt x="154226" y="241300"/>
                </a:moveTo>
                <a:cubicBezTo>
                  <a:pt x="76041" y="241300"/>
                  <a:pt x="12700" y="304641"/>
                  <a:pt x="12700" y="382826"/>
                </a:cubicBezTo>
                <a:cubicBezTo>
                  <a:pt x="12700" y="395843"/>
                  <a:pt x="23257" y="406400"/>
                  <a:pt x="36274" y="406400"/>
                </a:cubicBezTo>
                <a:lnTo>
                  <a:pt x="319326" y="406400"/>
                </a:lnTo>
                <a:cubicBezTo>
                  <a:pt x="332343" y="406400"/>
                  <a:pt x="342900" y="395843"/>
                  <a:pt x="342900" y="382826"/>
                </a:cubicBezTo>
                <a:cubicBezTo>
                  <a:pt x="342900" y="304641"/>
                  <a:pt x="279559" y="241300"/>
                  <a:pt x="201374" y="241300"/>
                </a:cubicBezTo>
                <a:lnTo>
                  <a:pt x="154226" y="241300"/>
                </a:ln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1549400" y="2286000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用户特征</a:t>
            </a:r>
            <a:r>
              <a:rPr lang="en-US" sz="20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4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28575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价格敏感度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购买频次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活跃度评分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平均订单金额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偏好标签权重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08500" y="2032000"/>
            <a:ext cx="34925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C4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08500" y="2032000"/>
            <a:ext cx="3492500" cy="63500"/>
          </a:xfrm>
          <a:prstGeom prst="rect">
            <a:avLst/>
          </a:prstGeom>
          <a:solidFill>
            <a:srgbClr val="5B8C7A"/>
          </a:solidFill>
          <a:ln/>
        </p:spPr>
      </p:sp>
      <p:sp>
        <p:nvSpPr>
          <p:cNvPr id="20" name="Shape 18"/>
          <p:cNvSpPr/>
          <p:nvPr/>
        </p:nvSpPr>
        <p:spPr>
          <a:xfrm>
            <a:off x="4711700" y="2286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444738" y="188278"/>
                </a:moveTo>
                <a:cubicBezTo>
                  <a:pt x="452993" y="197644"/>
                  <a:pt x="467201" y="199708"/>
                  <a:pt x="477917" y="192643"/>
                </a:cubicBezTo>
                <a:cubicBezTo>
                  <a:pt x="489585" y="184864"/>
                  <a:pt x="492760" y="169069"/>
                  <a:pt x="484981" y="157401"/>
                </a:cubicBezTo>
                <a:lnTo>
                  <a:pt x="446881" y="100251"/>
                </a:lnTo>
                <a:cubicBezTo>
                  <a:pt x="444659" y="96917"/>
                  <a:pt x="441642" y="94139"/>
                  <a:pt x="438071" y="92154"/>
                </a:cubicBezTo>
                <a:lnTo>
                  <a:pt x="278924" y="3731"/>
                </a:lnTo>
                <a:cubicBezTo>
                  <a:pt x="263604" y="-4762"/>
                  <a:pt x="244951" y="-4762"/>
                  <a:pt x="229553" y="3731"/>
                </a:cubicBezTo>
                <a:lnTo>
                  <a:pt x="70485" y="92075"/>
                </a:lnTo>
                <a:cubicBezTo>
                  <a:pt x="66199" y="94456"/>
                  <a:pt x="62786" y="97949"/>
                  <a:pt x="60484" y="102235"/>
                </a:cubicBezTo>
                <a:lnTo>
                  <a:pt x="21987" y="173593"/>
                </a:lnTo>
                <a:cubicBezTo>
                  <a:pt x="11986" y="192167"/>
                  <a:pt x="18971" y="215265"/>
                  <a:pt x="37544" y="225266"/>
                </a:cubicBezTo>
                <a:lnTo>
                  <a:pt x="63738" y="239316"/>
                </a:lnTo>
                <a:lnTo>
                  <a:pt x="63738" y="281622"/>
                </a:lnTo>
                <a:cubicBezTo>
                  <a:pt x="63738" y="299879"/>
                  <a:pt x="73581" y="316786"/>
                  <a:pt x="89456" y="325834"/>
                </a:cubicBezTo>
                <a:lnTo>
                  <a:pt x="229156" y="404971"/>
                </a:lnTo>
                <a:cubicBezTo>
                  <a:pt x="244713" y="413782"/>
                  <a:pt x="263684" y="413782"/>
                  <a:pt x="279241" y="404971"/>
                </a:cubicBezTo>
                <a:lnTo>
                  <a:pt x="418941" y="325834"/>
                </a:lnTo>
                <a:cubicBezTo>
                  <a:pt x="434896" y="316786"/>
                  <a:pt x="444659" y="299958"/>
                  <a:pt x="444659" y="281622"/>
                </a:cubicBezTo>
                <a:lnTo>
                  <a:pt x="444659" y="188357"/>
                </a:lnTo>
                <a:close/>
                <a:moveTo>
                  <a:pt x="254238" y="180499"/>
                </a:moveTo>
                <a:lnTo>
                  <a:pt x="135096" y="114300"/>
                </a:lnTo>
                <a:lnTo>
                  <a:pt x="254238" y="48101"/>
                </a:lnTo>
                <a:lnTo>
                  <a:pt x="373380" y="114300"/>
                </a:lnTo>
                <a:lnTo>
                  <a:pt x="254238" y="180499"/>
                </a:lnTo>
                <a:close/>
                <a:moveTo>
                  <a:pt x="221297" y="220345"/>
                </a:moveTo>
                <a:lnTo>
                  <a:pt x="204391" y="257016"/>
                </a:lnTo>
                <a:lnTo>
                  <a:pt x="72787" y="186531"/>
                </a:lnTo>
                <a:lnTo>
                  <a:pt x="92948" y="149066"/>
                </a:lnTo>
                <a:lnTo>
                  <a:pt x="221297" y="220345"/>
                </a:lnTo>
                <a:close/>
              </a:path>
            </a:pathLst>
          </a:custGeom>
          <a:solidFill>
            <a:srgbClr val="5B8C7A"/>
          </a:solidFill>
          <a:ln/>
        </p:spPr>
      </p:sp>
      <p:sp>
        <p:nvSpPr>
          <p:cNvPr id="21" name="Text 19"/>
          <p:cNvSpPr/>
          <p:nvPr/>
        </p:nvSpPr>
        <p:spPr>
          <a:xfrm>
            <a:off x="5295900" y="2286000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商品特征</a:t>
            </a:r>
            <a:r>
              <a:rPr lang="en-US" sz="20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4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62500" y="28575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价格 / 折扣率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销量 / 库存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保质期天数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当季标记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产地 / 标签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55000" y="2032000"/>
            <a:ext cx="34925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C4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55000" y="2032000"/>
            <a:ext cx="3492500" cy="6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85090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9042400" y="2286000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上下文特征</a:t>
            </a:r>
            <a:r>
              <a:rPr lang="en-US" sz="20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4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8维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09000" y="28575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季节编码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地区编码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天气 / 气温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距节假日天数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001500" y="2032000"/>
            <a:ext cx="34925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C4B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001500" y="2032000"/>
            <a:ext cx="3492500" cy="63500"/>
          </a:xfrm>
          <a:prstGeom prst="rect">
            <a:avLst/>
          </a:prstGeom>
          <a:solidFill>
            <a:srgbClr val="5B8C7A"/>
          </a:solidFill>
          <a:ln/>
        </p:spPr>
      </p:sp>
      <p:sp>
        <p:nvSpPr>
          <p:cNvPr id="30" name="Shape 28"/>
          <p:cNvSpPr/>
          <p:nvPr/>
        </p:nvSpPr>
        <p:spPr>
          <a:xfrm>
            <a:off x="122555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2308" y="181372"/>
                </a:moveTo>
                <a:cubicBezTo>
                  <a:pt x="62865" y="107553"/>
                  <a:pt x="126444" y="50800"/>
                  <a:pt x="203200" y="50800"/>
                </a:cubicBezTo>
                <a:cubicBezTo>
                  <a:pt x="245269" y="50800"/>
                  <a:pt x="283369" y="67866"/>
                  <a:pt x="310991" y="95409"/>
                </a:cubicBezTo>
                <a:cubicBezTo>
                  <a:pt x="311150" y="95568"/>
                  <a:pt x="311309" y="95726"/>
                  <a:pt x="311468" y="95885"/>
                </a:cubicBezTo>
                <a:lnTo>
                  <a:pt x="317500" y="101600"/>
                </a:lnTo>
                <a:lnTo>
                  <a:pt x="279479" y="101600"/>
                </a:lnTo>
                <a:cubicBezTo>
                  <a:pt x="265430" y="101600"/>
                  <a:pt x="254079" y="112951"/>
                  <a:pt x="254079" y="127000"/>
                </a:cubicBezTo>
                <a:cubicBezTo>
                  <a:pt x="254079" y="141049"/>
                  <a:pt x="265430" y="152400"/>
                  <a:pt x="279479" y="152400"/>
                </a:cubicBezTo>
                <a:lnTo>
                  <a:pt x="381079" y="152400"/>
                </a:lnTo>
                <a:cubicBezTo>
                  <a:pt x="395129" y="152400"/>
                  <a:pt x="406479" y="141049"/>
                  <a:pt x="406479" y="127000"/>
                </a:cubicBezTo>
                <a:lnTo>
                  <a:pt x="406479" y="25400"/>
                </a:lnTo>
                <a:cubicBezTo>
                  <a:pt x="406479" y="11351"/>
                  <a:pt x="395129" y="0"/>
                  <a:pt x="381079" y="0"/>
                </a:cubicBezTo>
                <a:cubicBezTo>
                  <a:pt x="367030" y="0"/>
                  <a:pt x="355679" y="11351"/>
                  <a:pt x="355679" y="25400"/>
                </a:cubicBezTo>
                <a:lnTo>
                  <a:pt x="355679" y="67786"/>
                </a:lnTo>
                <a:lnTo>
                  <a:pt x="346710" y="59293"/>
                </a:lnTo>
                <a:cubicBezTo>
                  <a:pt x="309959" y="22701"/>
                  <a:pt x="259159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lose/>
                <a:moveTo>
                  <a:pt x="404336" y="232172"/>
                </a:moveTo>
                <a:cubicBezTo>
                  <a:pt x="406321" y="218281"/>
                  <a:pt x="396637" y="205423"/>
                  <a:pt x="382826" y="203438"/>
                </a:cubicBezTo>
                <a:cubicBezTo>
                  <a:pt x="369014" y="201454"/>
                  <a:pt x="356076" y="211138"/>
                  <a:pt x="354092" y="224949"/>
                </a:cubicBezTo>
                <a:cubicBezTo>
                  <a:pt x="343535" y="298768"/>
                  <a:pt x="279956" y="355521"/>
                  <a:pt x="203200" y="355521"/>
                </a:cubicBezTo>
                <a:cubicBezTo>
                  <a:pt x="161131" y="355521"/>
                  <a:pt x="123031" y="338455"/>
                  <a:pt x="95409" y="310912"/>
                </a:cubicBezTo>
                <a:cubicBezTo>
                  <a:pt x="95250" y="310753"/>
                  <a:pt x="95091" y="310594"/>
                  <a:pt x="94932" y="310436"/>
                </a:cubicBezTo>
                <a:lnTo>
                  <a:pt x="88900" y="304721"/>
                </a:lnTo>
                <a:lnTo>
                  <a:pt x="126921" y="304721"/>
                </a:lnTo>
                <a:cubicBezTo>
                  <a:pt x="140970" y="304721"/>
                  <a:pt x="152321" y="293370"/>
                  <a:pt x="152321" y="279321"/>
                </a:cubicBezTo>
                <a:cubicBezTo>
                  <a:pt x="152321" y="265271"/>
                  <a:pt x="140970" y="253921"/>
                  <a:pt x="126921" y="253921"/>
                </a:cubicBezTo>
                <a:lnTo>
                  <a:pt x="25400" y="254000"/>
                </a:lnTo>
                <a:cubicBezTo>
                  <a:pt x="18653" y="254000"/>
                  <a:pt x="12144" y="256699"/>
                  <a:pt x="7382" y="261541"/>
                </a:cubicBezTo>
                <a:cubicBezTo>
                  <a:pt x="2619" y="266383"/>
                  <a:pt x="-79" y="272812"/>
                  <a:pt x="0" y="279638"/>
                </a:cubicBezTo>
                <a:lnTo>
                  <a:pt x="794" y="380444"/>
                </a:lnTo>
                <a:cubicBezTo>
                  <a:pt x="873" y="394494"/>
                  <a:pt x="12383" y="405765"/>
                  <a:pt x="26432" y="405606"/>
                </a:cubicBezTo>
                <a:cubicBezTo>
                  <a:pt x="40481" y="405448"/>
                  <a:pt x="51753" y="394017"/>
                  <a:pt x="51594" y="379968"/>
                </a:cubicBezTo>
                <a:lnTo>
                  <a:pt x="51276" y="339090"/>
                </a:lnTo>
                <a:lnTo>
                  <a:pt x="59769" y="347107"/>
                </a:lnTo>
                <a:cubicBezTo>
                  <a:pt x="96520" y="383699"/>
                  <a:pt x="147241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5B8C7A"/>
          </a:solidFill>
          <a:ln/>
        </p:spPr>
      </p:sp>
      <p:sp>
        <p:nvSpPr>
          <p:cNvPr id="31" name="Text 29"/>
          <p:cNvSpPr/>
          <p:nvPr/>
        </p:nvSpPr>
        <p:spPr>
          <a:xfrm>
            <a:off x="12788900" y="2286000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交互特征</a:t>
            </a:r>
            <a:r>
              <a:rPr lang="en-US" sz="20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4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5维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255500" y="2857500"/>
            <a:ext cx="2984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价格敏感度×折扣率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购买频次×销量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活跃度×标签权重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产地/季节匹配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533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模型参数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62000" y="5842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学习率：0.1，最大树深：6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子采样/列采样：0.8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迭代轮数：200，早停：20轮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训练数据：过去90天行为日志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382000" y="533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在线推理流程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382000" y="5842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筛选候选商品池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构建用户-商品特征对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XGBoost批量预测排序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Top-N结果写入推荐表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67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53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后端实现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39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前端实现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525000" y="762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算法验证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1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总结展望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736600"/>
            <a:ext cx="50800" cy="431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推荐模型对比实验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2000" y="13716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XGBoost vs LightGBM vs CatBoost，统一参数：学习率0.1，迭代200轮，早停20轮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873451"/>
              </p:ext>
            </p:extLst>
          </p:nvPr>
        </p:nvGraphicFramePr>
        <p:xfrm>
          <a:off x="762000" y="1968500"/>
          <a:ext cx="8890000" cy="39370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评估指标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XGBoost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LightGBM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CatBoost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准确率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0.8312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0.8256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0.8368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精确率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0.7645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0.7523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0.7712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召回率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0.7189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0.7056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0.7234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F1值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0.7410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0.7282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0.7465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AUC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0.8956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0.8872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0.9013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Hit@10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0.7854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0.7728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0.7901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训练耗时(s)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18.5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9.8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itchFamily="34" charset="-120"/>
                        </a:rPr>
                        <a:t>35.2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4" name="Chart 0"/>
          <p:cNvGraphicFramePr/>
          <p:nvPr/>
        </p:nvGraphicFramePr>
        <p:xfrm>
          <a:off x="10033000" y="1968500"/>
          <a:ext cx="5461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1"/>
          <p:cNvSpPr/>
          <p:nvPr/>
        </p:nvSpPr>
        <p:spPr>
          <a:xfrm>
            <a:off x="762000" y="6223000"/>
            <a:ext cx="14732000" cy="2260600"/>
          </a:xfrm>
          <a:prstGeom prst="roundRect">
            <a:avLst>
              <a:gd name="adj" fmla="val 4000"/>
            </a:avLst>
          </a:prstGeom>
          <a:solidFill>
            <a:srgbClr val="A7C4BC">
              <a:alpha val="18824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016000" y="635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实验结论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016000" y="6731000"/>
            <a:ext cx="1422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CatBoost在Precision和AUC上最优，适合处理农产品类别型特征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LightGBM训练速度最快（9.8s），适合大规模数据场景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特征重要性Top2：价格敏感度×折扣率、是否当季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67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53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后端实现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39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前端实现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525000" y="762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算法验证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1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总结展望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736600"/>
            <a:ext cx="50800" cy="431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价格预测模块设计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2000" y="1397000"/>
            <a:ext cx="1473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XGBoost 回归模型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：按品类+地域独立训练，预测未来7天价格走势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032000"/>
            <a:ext cx="3492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C4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2032000"/>
            <a:ext cx="3492500" cy="6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22860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历史价格统计 10维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2794000"/>
            <a:ext cx="2984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7/14/30天均价滑动平均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最低价/最高价移动平均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价格标准差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成交量移动平均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08500" y="2032000"/>
            <a:ext cx="3492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C4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08500" y="2032000"/>
            <a:ext cx="3492500" cy="63500"/>
          </a:xfrm>
          <a:prstGeom prst="rect">
            <a:avLst/>
          </a:prstGeom>
          <a:solidFill>
            <a:srgbClr val="5B8C7A"/>
          </a:solidFill>
          <a:ln/>
        </p:spPr>
      </p:sp>
      <p:sp>
        <p:nvSpPr>
          <p:cNvPr id="19" name="Text 17"/>
          <p:cNvSpPr/>
          <p:nvPr/>
        </p:nvSpPr>
        <p:spPr>
          <a:xfrm>
            <a:off x="4762500" y="22860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时间周期 8维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62500" y="2794000"/>
            <a:ext cx="2984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年/月/日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月周期编码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周几/是否周末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季节编码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5000" y="2032000"/>
            <a:ext cx="3492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C4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55000" y="2032000"/>
            <a:ext cx="3492500" cy="6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8509000" y="22860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外部市场 5维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9000" y="2794000"/>
            <a:ext cx="2984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气温 / 降水量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湿度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批发价价差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竞品价格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001500" y="2032000"/>
            <a:ext cx="3492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C4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01500" y="2032000"/>
            <a:ext cx="3492500" cy="63500"/>
          </a:xfrm>
          <a:prstGeom prst="rect">
            <a:avLst/>
          </a:prstGeom>
          <a:solidFill>
            <a:srgbClr val="5B8C7A"/>
          </a:solidFill>
          <a:ln/>
        </p:spPr>
      </p:sp>
      <p:sp>
        <p:nvSpPr>
          <p:cNvPr id="27" name="Text 25"/>
          <p:cNvSpPr/>
          <p:nvPr/>
        </p:nvSpPr>
        <p:spPr>
          <a:xfrm>
            <a:off x="12255500" y="22860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节假日 2维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255500" y="2794000"/>
            <a:ext cx="2984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是否节假日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距节假日天数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51435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模型参数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学习率：0.05，最大树深：5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子采样比例：0.7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目标函数：reg:squarederror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评价指标：RMSE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训练：前48天，测试：后12天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382000" y="51435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建议售价功能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获取未来7天预测均价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结合当前售价计算涨跌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趋势可视化辅助决策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农户可选择是否采纳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67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53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后端实现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39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前端实现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525000" y="762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算法验证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1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总结展望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736600"/>
            <a:ext cx="50800" cy="431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价格预测实验结果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8636000" cy="330199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1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品类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商品示例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价格区间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RMSE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MAE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MAPE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叶菜类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有机菠菜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12.00-15.50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0.54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4.68%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水果类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白玉枇杷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98.00-138.00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5.82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4.65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4.32%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茶叶类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西湖龙井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880-1380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42.50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32.10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3.95%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粮油类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南粳大米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58.00-78.00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1.35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1.08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1.62%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加权平均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3.64%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Chart 0"/>
          <p:cNvGraphicFramePr/>
          <p:nvPr/>
        </p:nvGraphicFramePr>
        <p:xfrm>
          <a:off x="9779000" y="1460500"/>
          <a:ext cx="5715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10"/>
          <p:cNvSpPr/>
          <p:nvPr/>
        </p:nvSpPr>
        <p:spPr>
          <a:xfrm>
            <a:off x="762000" y="5080000"/>
            <a:ext cx="14732000" cy="1143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5" name="Text 11"/>
          <p:cNvSpPr/>
          <p:nvPr/>
        </p:nvSpPr>
        <p:spPr>
          <a:xfrm>
            <a:off x="1016000" y="5143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四类农产品加权平均 </a:t>
            </a:r>
            <a:r>
              <a:rPr lang="en-US" sz="36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MAPE 3.64%</a:t>
            </a: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具有良好的短期价格预测能力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62000" y="6477000"/>
            <a:ext cx="1473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分析结论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粮油类价格稳定，预测最准确（MAPE 1.62%）；叶菜类受天气影响大，预测最难（MAPE 4.68%）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短期预测（1-3天）MAPE 2.81%，中长期（6-7天）MAPE 5.35%，短期精度显著优于中长期</a:t>
            </a:r>
            <a:endParaRPr lang="en-US" sz="20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</a:t>
            </a:r>
            <a:r>
              <a:rPr lang="en-US" sz="18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建议近3天预测以较高置信度呈现，4-7天以置信区间形式给出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67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53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后端实现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39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前端实现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525000" y="762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算法验证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1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总结展望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736600"/>
            <a:ext cx="50800" cy="431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系统性能测试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62000" y="1460500"/>
            <a:ext cx="4572000" cy="15240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5875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22860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个API接口全部通过测试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8000" y="1460500"/>
            <a:ext cx="4572000" cy="1524000"/>
          </a:xfrm>
          <a:prstGeom prst="roundRect">
            <a:avLst>
              <a:gd name="adj" fmla="val 6000"/>
            </a:avLst>
          </a:prstGeom>
          <a:solidFill>
            <a:srgbClr val="5B8C7A"/>
          </a:solidFill>
          <a:ln/>
        </p:spPr>
      </p:sp>
      <p:sp>
        <p:nvSpPr>
          <p:cNvPr id="16" name="Text 14"/>
          <p:cNvSpPr/>
          <p:nvPr/>
        </p:nvSpPr>
        <p:spPr>
          <a:xfrm>
            <a:off x="5588000" y="15875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88000" y="2286000"/>
            <a:ext cx="457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个测试用例全部通过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414000" y="1460500"/>
            <a:ext cx="5080000" cy="1524000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10414000" y="1587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668ms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414000" y="2286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LCP平均 符合Google良好标准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3302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前端页面加载性能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873500"/>
          <a:ext cx="14732000" cy="4317999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页面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首屏加载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FCP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LCP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路由切换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首页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856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312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645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124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商品详情页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1024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385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782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198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商品搜索页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938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356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712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156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77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购物车页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745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268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534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98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911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用户中心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892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325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668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142 ms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62000" y="8382000"/>
            <a:ext cx="1016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所有页面首屏加载均在1.1秒以内，平均891ms；路由切换均在200ms以内，平均144ms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67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53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后端实现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39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前端实现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25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算法验证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11000" y="76200"/>
            <a:ext cx="2032000" cy="355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0" y="762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总结展望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736600"/>
            <a:ext cx="50800" cy="431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965200" y="698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2000" y="14605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研究成果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2000" y="2032000"/>
            <a:ext cx="7112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完成前后端分离微服务平台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Vue 3 + Spring Boot + 微服务架构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集成XGBoost智能推荐引擎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集成XGBoost价格预测模型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四类农产品加权MAPE </a:t>
            </a:r>
            <a:r>
              <a:rPr lang="en-US" sz="2000" b="1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3.64%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49个API全部通过功能测试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</a:t>
            </a:r>
            <a:r>
              <a:rPr lang="en-US" sz="20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前端首屏平均加载 </a:t>
            </a:r>
            <a:r>
              <a:rPr lang="en-US" sz="2000" b="1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891ms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82000" y="14605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不足与展望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382000" y="2032000"/>
            <a:ext cx="7112000" cy="1968500"/>
          </a:xfrm>
          <a:prstGeom prst="roundRect">
            <a:avLst>
              <a:gd name="adj" fmla="val 6000"/>
            </a:avLst>
          </a:prstGeom>
          <a:solidFill>
            <a:srgbClr val="FFF3F3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6000" y="2133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现有不足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36000" y="2489200"/>
            <a:ext cx="660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</a:t>
            </a:r>
            <a:r>
              <a:rPr lang="en-US" sz="16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支付为模拟方式，未接入微信API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 数据集较小（仅60天），泛化能力有限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• 溯源信息缺乏第三方公信力背书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382000" y="4064000"/>
            <a:ext cx="7112000" cy="1905000"/>
          </a:xfrm>
          <a:prstGeom prst="roundRect">
            <a:avLst>
              <a:gd name="adj" fmla="val 6000"/>
            </a:avLst>
          </a:prstGeom>
          <a:solidFill>
            <a:srgbClr val="F0F8F5"/>
          </a:solidFill>
          <a:ln w="12700">
            <a:solidFill>
              <a:srgbClr val="A7C4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6000" y="4165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3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未来方向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45720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接入真实支付与物流查询API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扩大数据集，提升模型泛化能力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增加IoT设备采集生长环境数据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350000"/>
            <a:ext cx="14732000" cy="1778000"/>
          </a:xfrm>
          <a:prstGeom prst="roundRect">
            <a:avLst>
              <a:gd name="adj" fmla="val 4000"/>
            </a:avLst>
          </a:prstGeom>
          <a:solidFill>
            <a:srgbClr val="A7C4BC">
              <a:alpha val="18824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22" name="Text 20"/>
          <p:cNvSpPr/>
          <p:nvPr/>
        </p:nvSpPr>
        <p:spPr>
          <a:xfrm>
            <a:off x="762000" y="6540500"/>
            <a:ext cx="4902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22</a:t>
            </a:r>
            <a:r>
              <a:rPr lang="en-US" sz="36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 </a:t>
            </a:r>
            <a:r>
              <a:rPr lang="en-US" sz="1800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张数据表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2000" y="7239000"/>
            <a:ext cx="4902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7个业务域完整覆盖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76900" y="6540500"/>
            <a:ext cx="4902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3.64%</a:t>
            </a:r>
            <a:r>
              <a:rPr lang="en-US" sz="36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8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MAPE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76900" y="7239000"/>
            <a:ext cx="4902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四类农产品加权平均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91800" y="6540500"/>
            <a:ext cx="4902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891</a:t>
            </a:r>
            <a:r>
              <a:rPr lang="en-US" sz="36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800" dirty="0">
                <a:solidFill>
                  <a:srgbClr val="5B8C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91800" y="7239000"/>
            <a:ext cx="49022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首屏平均加载时间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rinb35jja6ns/mnt/agents/output/agri_ppt/images/1_230_067_Agriculture_Technology_Backgrounds.png"/>
          <p:cNvPicPr>
            <a:picLocks noChangeAspect="1"/>
          </p:cNvPicPr>
          <p:nvPr/>
        </p:nvPicPr>
        <p:blipFill>
          <a:blip r:embed="rId3">
            <a:alphaModFix amt="12000"/>
          </a:blip>
          <a:srcRect l="3333" r="333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270000"/>
            <a:ext cx="1625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kern="0" spc="800" dirty="0">
                <a:solidFill>
                  <a:srgbClr val="FFFFFF">
                    <a:alpha val="6275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AGRITRADE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304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感谢聆听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3048000" y="419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A7C4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恳请各位老师批评指正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858000" y="5080000"/>
            <a:ext cx="2540000" cy="25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4318000" y="5461000"/>
            <a:ext cx="762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20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答辩人：应锋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指导教师：师晓晔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南京邮电大学物联网学院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5588000" y="762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A7C4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itchFamily="34" charset="-120"/>
              </a:rPr>
              <a:t>2026年5月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 panose="020F0302020204030204"/>
        <a:ea typeface="微软雅黑"/>
        <a:cs typeface="微软雅黑"/>
        <a:font script="Jpan" typeface="微软雅黑"/>
        <a:font script="Hang" typeface="微软雅黑"/>
        <a:font script="Hans" typeface="微软雅黑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  <a:font script="Armn" typeface="微软雅黑"/>
        <a:font script="Bugi" typeface="微软雅黑"/>
        <a:font script="Bopo" typeface="微软雅黑"/>
        <a:font script="Java" typeface="微软雅黑"/>
        <a:font script="Lisu" typeface="微软雅黑"/>
        <a:font script="Mymr" typeface="微软雅黑"/>
        <a:font script="Nkoo" typeface="微软雅黑"/>
        <a:font script="Olck" typeface="微软雅黑"/>
        <a:font script="Osma" typeface="微软雅黑"/>
        <a:font script="Phag" typeface="微软雅黑"/>
        <a:font script="Syrn" typeface="微软雅黑"/>
        <a:font script="Syrj" typeface="微软雅黑"/>
        <a:font script="Syre" typeface="微软雅黑"/>
        <a:font script="Sora" typeface="微软雅黑"/>
        <a:font script="Tale" typeface="微软雅黑"/>
        <a:font script="Talu" typeface="微软雅黑"/>
        <a:font script="Tfng" typeface="微软雅黑"/>
      </a:majorFont>
      <a:minorFont>
        <a:latin typeface="微软雅黑" panose="020F0502020204030204"/>
        <a:ea typeface="微软雅黑"/>
        <a:cs typeface="微软雅黑"/>
        <a:font script="Jpan" typeface="微软雅黑"/>
        <a:font script="Hang" typeface="微软雅黑"/>
        <a:font script="Hans" typeface="微软雅黑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  <a:font script="Armn" typeface="微软雅黑"/>
        <a:font script="Bugi" typeface="微软雅黑"/>
        <a:font script="Bopo" typeface="微软雅黑"/>
        <a:font script="Java" typeface="微软雅黑"/>
        <a:font script="Lisu" typeface="微软雅黑"/>
        <a:font script="Mymr" typeface="微软雅黑"/>
        <a:font script="Nkoo" typeface="微软雅黑"/>
        <a:font script="Olck" typeface="微软雅黑"/>
        <a:font script="Osma" typeface="微软雅黑"/>
        <a:font script="Phag" typeface="微软雅黑"/>
        <a:font script="Syrn" typeface="微软雅黑"/>
        <a:font script="Syrj" typeface="微软雅黑"/>
        <a:font script="Syre" typeface="微软雅黑"/>
        <a:font script="Sora" typeface="微软雅黑"/>
        <a:font script="Tale" typeface="微软雅黑"/>
        <a:font script="Talu" typeface="微软雅黑"/>
        <a:font script="Tfng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 panose="020F0302020204030204"/>
        <a:ea typeface="微软雅黑"/>
        <a:cs typeface="微软雅黑"/>
        <a:font script="Jpan" typeface="微软雅黑"/>
        <a:font script="Hang" typeface="微软雅黑"/>
        <a:font script="Hans" typeface="微软雅黑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  <a:font script="Armn" typeface="微软雅黑"/>
        <a:font script="Bugi" typeface="微软雅黑"/>
        <a:font script="Bopo" typeface="微软雅黑"/>
        <a:font script="Java" typeface="微软雅黑"/>
        <a:font script="Lisu" typeface="微软雅黑"/>
        <a:font script="Mymr" typeface="微软雅黑"/>
        <a:font script="Nkoo" typeface="微软雅黑"/>
        <a:font script="Olck" typeface="微软雅黑"/>
        <a:font script="Osma" typeface="微软雅黑"/>
        <a:font script="Phag" typeface="微软雅黑"/>
        <a:font script="Syrn" typeface="微软雅黑"/>
        <a:font script="Syrj" typeface="微软雅黑"/>
        <a:font script="Syre" typeface="微软雅黑"/>
        <a:font script="Sora" typeface="微软雅黑"/>
        <a:font script="Tale" typeface="微软雅黑"/>
        <a:font script="Talu" typeface="微软雅黑"/>
        <a:font script="Tfng" typeface="微软雅黑"/>
      </a:majorFont>
      <a:minorFont>
        <a:latin typeface="微软雅黑" panose="020F0502020204030204"/>
        <a:ea typeface="微软雅黑"/>
        <a:cs typeface="微软雅黑"/>
        <a:font script="Jpan" typeface="微软雅黑"/>
        <a:font script="Hang" typeface="微软雅黑"/>
        <a:font script="Hans" typeface="微软雅黑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  <a:font script="Armn" typeface="微软雅黑"/>
        <a:font script="Bugi" typeface="微软雅黑"/>
        <a:font script="Bopo" typeface="微软雅黑"/>
        <a:font script="Java" typeface="微软雅黑"/>
        <a:font script="Lisu" typeface="微软雅黑"/>
        <a:font script="Mymr" typeface="微软雅黑"/>
        <a:font script="Nkoo" typeface="微软雅黑"/>
        <a:font script="Olck" typeface="微软雅黑"/>
        <a:font script="Osma" typeface="微软雅黑"/>
        <a:font script="Phag" typeface="微软雅黑"/>
        <a:font script="Syrn" typeface="微软雅黑"/>
        <a:font script="Syrj" typeface="微软雅黑"/>
        <a:font script="Syre" typeface="微软雅黑"/>
        <a:font script="Sora" typeface="微软雅黑"/>
        <a:font script="Tale" typeface="微软雅黑"/>
        <a:font script="Talu" typeface="微软雅黑"/>
        <a:font script="Tfng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1168</Words>
  <Application>Microsoft Office PowerPoint</Application>
  <PresentationFormat>自定义</PresentationFormat>
  <Paragraphs>449</Paragraphs>
  <Slides>16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微软雅黑</vt:lpstr>
      <vt:lpstr>Custom Theme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基于Spring Boot的农产品产地直销交易平台</dc:title>
  <dc:subject>基于Spring Boot的农产品产地直销交易平台</dc:subject>
  <dc:creator>Kimi</dc:creator>
  <cp:lastModifiedBy>feng ying</cp:lastModifiedBy>
  <cp:revision>2</cp:revision>
  <dcterms:created xsi:type="dcterms:W3CDTF">2026-05-25T13:53:53Z</dcterms:created>
  <dcterms:modified xsi:type="dcterms:W3CDTF">2026-05-26T05:47:31Z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{"Label":"基于Spring Boot的农产品产地直销交易平台","ContentProducer":"001191110108MACG2KBH8F10000","ProduceID":"19e5f586-4252-874e-8000-0000eec931b3","ReservedCode1":"","ContentPropagator":"001191110108MACG2KBH8F20000","PropagateID":"19e5f586-4252-874e-8000-0000eec931b3","ReservedCode2":""}</vt:lpwstr>
  </property>
</Properties>
</file>